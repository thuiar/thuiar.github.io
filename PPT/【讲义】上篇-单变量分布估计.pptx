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4.xml" ContentType="application/vnd.openxmlformats-officedocument.presentationml.tags+xml"/>
  <Override PartName="/ppt/notesSlides/notesSlide35.xml" ContentType="application/vnd.openxmlformats-officedocument.presentationml.notesSlide+xml"/>
  <Override PartName="/ppt/tags/tag25.xml" ContentType="application/vnd.openxmlformats-officedocument.presentationml.tags+xml"/>
  <Override PartName="/ppt/notesSlides/notesSlide36.xml" ContentType="application/vnd.openxmlformats-officedocument.presentationml.notesSlide+xml"/>
  <Override PartName="/ppt/tags/tag26.xml" ContentType="application/vnd.openxmlformats-officedocument.presentationml.tags+xml"/>
  <Override PartName="/ppt/notesSlides/notesSlide37.xml" ContentType="application/vnd.openxmlformats-officedocument.presentationml.notesSlide+xml"/>
  <Override PartName="/ppt/tags/tag27.xml" ContentType="application/vnd.openxmlformats-officedocument.presentationml.tags+xml"/>
  <Override PartName="/ppt/notesSlides/notesSlide38.xml" ContentType="application/vnd.openxmlformats-officedocument.presentationml.notesSlide+xml"/>
  <Override PartName="/ppt/tags/tag28.xml" ContentType="application/vnd.openxmlformats-officedocument.presentationml.tags+xml"/>
  <Override PartName="/ppt/notesSlides/notesSlide39.xml" ContentType="application/vnd.openxmlformats-officedocument.presentationml.notesSlide+xml"/>
  <Override PartName="/ppt/tags/tag29.xml" ContentType="application/vnd.openxmlformats-officedocument.presentationml.tags+xml"/>
  <Override PartName="/ppt/notesSlides/notesSlide40.xml" ContentType="application/vnd.openxmlformats-officedocument.presentationml.notesSlide+xml"/>
  <Override PartName="/ppt/tags/tag30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31.xml" ContentType="application/vnd.openxmlformats-officedocument.presentationml.tags+xml"/>
  <Override PartName="/ppt/notesSlides/notesSlide43.xml" ContentType="application/vnd.openxmlformats-officedocument.presentationml.notesSlide+xml"/>
  <Override PartName="/ppt/tags/tag32.xml" ContentType="application/vnd.openxmlformats-officedocument.presentationml.tags+xml"/>
  <Override PartName="/ppt/notesSlides/notesSlide44.xml" ContentType="application/vnd.openxmlformats-officedocument.presentationml.notesSlide+xml"/>
  <Override PartName="/ppt/tags/tag33.xml" ContentType="application/vnd.openxmlformats-officedocument.presentationml.tags+xml"/>
  <Override PartName="/ppt/notesSlides/notesSlide45.xml" ContentType="application/vnd.openxmlformats-officedocument.presentationml.notesSlide+xml"/>
  <Override PartName="/ppt/tags/tag34.xml" ContentType="application/vnd.openxmlformats-officedocument.presentationml.tags+xml"/>
  <Override PartName="/ppt/notesSlides/notesSlide46.xml" ContentType="application/vnd.openxmlformats-officedocument.presentationml.notesSlide+xml"/>
  <Override PartName="/ppt/tags/tag35.xml" ContentType="application/vnd.openxmlformats-officedocument.presentationml.tags+xml"/>
  <Override PartName="/ppt/notesSlides/notesSlide47.xml" ContentType="application/vnd.openxmlformats-officedocument.presentationml.notesSlide+xml"/>
  <Override PartName="/ppt/tags/tag36.xml" ContentType="application/vnd.openxmlformats-officedocument.presentationml.tags+xml"/>
  <Override PartName="/ppt/notesSlides/notesSlide48.xml" ContentType="application/vnd.openxmlformats-officedocument.presentationml.notesSlide+xml"/>
  <Override PartName="/ppt/tags/tag37.xml" ContentType="application/vnd.openxmlformats-officedocument.presentationml.tags+xml"/>
  <Override PartName="/ppt/notesSlides/notesSlide49.xml" ContentType="application/vnd.openxmlformats-officedocument.presentationml.notesSlide+xml"/>
  <Override PartName="/ppt/tags/tag38.xml" ContentType="application/vnd.openxmlformats-officedocument.presentationml.tags+xml"/>
  <Override PartName="/ppt/notesSlides/notesSlide50.xml" ContentType="application/vnd.openxmlformats-officedocument.presentationml.notesSlide+xml"/>
  <Override PartName="/ppt/tags/tag39.xml" ContentType="application/vnd.openxmlformats-officedocument.presentationml.tags+xml"/>
  <Override PartName="/ppt/notesSlides/notesSlide51.xml" ContentType="application/vnd.openxmlformats-officedocument.presentationml.notesSlide+xml"/>
  <Override PartName="/ppt/tags/tag40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56" r:id="rId2"/>
    <p:sldId id="303" r:id="rId3"/>
    <p:sldId id="345" r:id="rId4"/>
    <p:sldId id="346" r:id="rId5"/>
    <p:sldId id="332" r:id="rId6"/>
    <p:sldId id="347" r:id="rId7"/>
    <p:sldId id="348" r:id="rId8"/>
    <p:sldId id="305" r:id="rId9"/>
    <p:sldId id="349" r:id="rId10"/>
    <p:sldId id="350" r:id="rId11"/>
    <p:sldId id="353" r:id="rId12"/>
    <p:sldId id="336" r:id="rId13"/>
    <p:sldId id="337" r:id="rId14"/>
    <p:sldId id="351" r:id="rId15"/>
    <p:sldId id="354" r:id="rId16"/>
    <p:sldId id="361" r:id="rId17"/>
    <p:sldId id="355" r:id="rId18"/>
    <p:sldId id="392" r:id="rId19"/>
    <p:sldId id="394" r:id="rId20"/>
    <p:sldId id="356" r:id="rId21"/>
    <p:sldId id="357" r:id="rId22"/>
    <p:sldId id="358" r:id="rId23"/>
    <p:sldId id="364" r:id="rId24"/>
    <p:sldId id="362" r:id="rId25"/>
    <p:sldId id="359" r:id="rId26"/>
    <p:sldId id="365" r:id="rId27"/>
    <p:sldId id="366" r:id="rId28"/>
    <p:sldId id="340" r:id="rId29"/>
    <p:sldId id="285" r:id="rId30"/>
    <p:sldId id="260" r:id="rId31"/>
    <p:sldId id="368" r:id="rId32"/>
    <p:sldId id="370" r:id="rId33"/>
    <p:sldId id="371" r:id="rId34"/>
    <p:sldId id="369" r:id="rId35"/>
    <p:sldId id="376" r:id="rId36"/>
    <p:sldId id="372" r:id="rId37"/>
    <p:sldId id="373" r:id="rId38"/>
    <p:sldId id="377" r:id="rId39"/>
    <p:sldId id="378" r:id="rId40"/>
    <p:sldId id="374" r:id="rId41"/>
    <p:sldId id="375" r:id="rId42"/>
    <p:sldId id="367" r:id="rId43"/>
    <p:sldId id="381" r:id="rId44"/>
    <p:sldId id="379" r:id="rId45"/>
    <p:sldId id="382" r:id="rId46"/>
    <p:sldId id="383" r:id="rId47"/>
    <p:sldId id="384" r:id="rId48"/>
    <p:sldId id="385" r:id="rId49"/>
    <p:sldId id="387" r:id="rId50"/>
    <p:sldId id="388" r:id="rId51"/>
    <p:sldId id="389" r:id="rId52"/>
    <p:sldId id="386" r:id="rId53"/>
    <p:sldId id="352" r:id="rId54"/>
    <p:sldId id="315" r:id="rId55"/>
    <p:sldId id="316" r:id="rId56"/>
    <p:sldId id="327" r:id="rId57"/>
    <p:sldId id="395" r:id="rId58"/>
    <p:sldId id="396" r:id="rId59"/>
    <p:sldId id="341" r:id="rId60"/>
    <p:sldId id="397" r:id="rId61"/>
    <p:sldId id="398" r:id="rId62"/>
  </p:sldIdLst>
  <p:sldSz cx="9144000" cy="6858000" type="screen4x3"/>
  <p:notesSz cx="6858000" cy="9144000"/>
  <p:embeddedFontLst>
    <p:embeddedFont>
      <p:font typeface="黑体" panose="02010609060101010101" pitchFamily="49" charset="-122"/>
      <p:regular r:id="rId65"/>
    </p:embeddedFont>
    <p:embeddedFont>
      <p:font typeface="Arial Unicode MS" panose="02010600030101010101" charset="-122"/>
      <p:regular r:id="rId66"/>
    </p:embeddedFon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微软雅黑" panose="020B0503020204020204" pitchFamily="34" charset="-122"/>
      <p:regular r:id="rId71"/>
      <p:bold r:id="rId72"/>
    </p:embeddedFont>
    <p:embeddedFont>
      <p:font typeface="华文楷体" panose="02010600040101010101" pitchFamily="2" charset="-122"/>
      <p:regular r:id="rId73"/>
    </p:embeddedFont>
    <p:embeddedFont>
      <p:font typeface="Cambria Math" panose="02040503050406030204" pitchFamily="18" charset="0"/>
      <p:regular r:id="rId7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NWENERYA" initials="WY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CEB"/>
    <a:srgbClr val="000066"/>
    <a:srgbClr val="0066FF"/>
    <a:srgbClr val="1B56C7"/>
    <a:srgbClr val="CC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99" autoAdjust="0"/>
    <p:restoredTop sz="81193" autoAdjust="0"/>
  </p:normalViewPr>
  <p:slideViewPr>
    <p:cSldViewPr>
      <p:cViewPr varScale="1">
        <p:scale>
          <a:sx n="56" d="100"/>
          <a:sy n="56" d="100"/>
        </p:scale>
        <p:origin x="2217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16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openxmlformats.org/officeDocument/2006/relationships/font" Target="fonts/font5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5A2ADC-5D1E-4CFA-ACF9-EBFF09C50C95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D7A87ADB-7CB9-41E9-AF10-3CE5DDA65751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启发式算法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A614542-6D5A-4E23-A292-D0144C0D2F9A}" type="parTrans" cxnId="{54CFE5BA-E6C3-465A-97FA-F039708FF6A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B289CA-93FD-4294-9C81-FE1D07936319}" type="sibTrans" cxnId="{54CFE5BA-E6C3-465A-97FA-F039708FF6A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5C4EBD-515D-44E2-878A-02EC0E6F18E2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模拟退火算法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D610E8-D29B-4830-91C5-6675BC3BC391}" type="parTrans" cxnId="{A77E2AE6-2707-4486-A688-001F04C19EF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9AB9CE0-0604-45DF-8A1A-7F54A5E4ED01}" type="sibTrans" cxnId="{A77E2AE6-2707-4486-A688-001F04C19EF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0C2F11A-4D5B-42BD-8B81-02D45E07E819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禁忌搜索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6FF5D9-5BBE-4904-93DA-4B7962D1C808}" type="parTrans" cxnId="{65A4BE08-01FA-489F-915B-AD66B23AC2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0768BC-FBC5-4C6E-84EC-430EA463FA78}" type="sibTrans" cxnId="{65A4BE08-01FA-489F-915B-AD66B23AC2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0B9166-BBD5-4751-8135-9084A9C90804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遗传算法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43A444-1538-4467-950F-8C8FC25021F5}" type="parTrans" cxnId="{BA9EF408-0FB2-4A7F-AA1B-2011DD53571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89E70D-837E-4802-98CC-4E1F3312AD27}" type="sibTrans" cxnId="{BA9EF408-0FB2-4A7F-AA1B-2011DD53571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0F9AAB3-91A6-459D-B870-B8076449D9A3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人工神经网络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01881A-74A3-4836-9BED-FD2812703F83}" type="parTrans" cxnId="{25B1F763-B636-4B1F-A436-7B516EF2BD2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BDAC33-EA22-4F05-9D0A-511D14AC7ED7}" type="sibTrans" cxnId="{25B1F763-B636-4B1F-A436-7B516EF2BD2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4783E52-2E84-4110-8CA9-06728E5F9A07}">
      <dgm:prSet phldrT="[文本]"/>
      <dgm:spPr>
        <a:ln>
          <a:solidFill>
            <a:srgbClr val="FF0000"/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分布估计算法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88B96A-E2EE-4E27-B084-BA5DAB452EF3}" type="parTrans" cxnId="{D7EE11C3-3469-40CF-8E72-CEDF1FFE08D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B3BD62-E7E6-429F-B395-734AB02BE18E}" type="sibTrans" cxnId="{D7EE11C3-3469-40CF-8E72-CEDF1FFE08D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D3249D-D895-4232-872E-F3AFE1539BA9}" type="pres">
      <dgm:prSet presAssocID="{A25A2ADC-5D1E-4CFA-ACF9-EBFF09C50C9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12C4A6-9065-4A20-A745-8EFC0347D00C}" type="pres">
      <dgm:prSet presAssocID="{D7A87ADB-7CB9-41E9-AF10-3CE5DDA65751}" presName="root1" presStyleCnt="0"/>
      <dgm:spPr/>
    </dgm:pt>
    <dgm:pt modelId="{055B7433-7678-4CFA-BF1A-2062FDD41A9A}" type="pres">
      <dgm:prSet presAssocID="{D7A87ADB-7CB9-41E9-AF10-3CE5DDA65751}" presName="LevelOneTextNode" presStyleLbl="node0" presStyleIdx="0" presStyleCnt="1" custScaleY="8475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66AE009-FE6B-4649-95D0-70E9CB9FA19A}" type="pres">
      <dgm:prSet presAssocID="{D7A87ADB-7CB9-41E9-AF10-3CE5DDA65751}" presName="level2hierChild" presStyleCnt="0"/>
      <dgm:spPr/>
    </dgm:pt>
    <dgm:pt modelId="{F38DB19C-B3CE-4611-A11E-074AD8D4D07F}" type="pres">
      <dgm:prSet presAssocID="{F4D610E8-D29B-4830-91C5-6675BC3BC391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20C2DE88-F910-4801-AB54-096C23C46E02}" type="pres">
      <dgm:prSet presAssocID="{F4D610E8-D29B-4830-91C5-6675BC3BC391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2175B47D-4223-4519-8060-AEC63048C2BF}" type="pres">
      <dgm:prSet presAssocID="{F85C4EBD-515D-44E2-878A-02EC0E6F18E2}" presName="root2" presStyleCnt="0"/>
      <dgm:spPr/>
    </dgm:pt>
    <dgm:pt modelId="{1C7A7113-4AD7-4A74-AEAE-9EF5DE7DC689}" type="pres">
      <dgm:prSet presAssocID="{F85C4EBD-515D-44E2-878A-02EC0E6F18E2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B635638-D67D-4929-9459-7594C5F61622}" type="pres">
      <dgm:prSet presAssocID="{F85C4EBD-515D-44E2-878A-02EC0E6F18E2}" presName="level3hierChild" presStyleCnt="0"/>
      <dgm:spPr/>
    </dgm:pt>
    <dgm:pt modelId="{F85CCF6F-5552-4FBA-9E20-DF0C60F4B811}" type="pres">
      <dgm:prSet presAssocID="{436FF5D9-5BBE-4904-93DA-4B7962D1C808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EBBED948-B96A-4EA3-8324-8E77834AAAEA}" type="pres">
      <dgm:prSet presAssocID="{436FF5D9-5BBE-4904-93DA-4B7962D1C808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C4BA4776-081D-4102-95AB-193CEEC46BBD}" type="pres">
      <dgm:prSet presAssocID="{20C2F11A-4D5B-42BD-8B81-02D45E07E819}" presName="root2" presStyleCnt="0"/>
      <dgm:spPr/>
    </dgm:pt>
    <dgm:pt modelId="{AEEF2398-E252-44A0-B10D-CFDDD121A947}" type="pres">
      <dgm:prSet presAssocID="{20C2F11A-4D5B-42BD-8B81-02D45E07E819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2C0F6CE-8F2C-420A-9624-0B2EA48845A2}" type="pres">
      <dgm:prSet presAssocID="{20C2F11A-4D5B-42BD-8B81-02D45E07E819}" presName="level3hierChild" presStyleCnt="0"/>
      <dgm:spPr/>
    </dgm:pt>
    <dgm:pt modelId="{C8700A61-6D5F-4C91-9708-7A4540A31142}" type="pres">
      <dgm:prSet presAssocID="{CC43A444-1538-4467-950F-8C8FC25021F5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0DF4A894-04EC-4ECD-86B6-F96FA9AAB4AC}" type="pres">
      <dgm:prSet presAssocID="{CC43A444-1538-4467-950F-8C8FC25021F5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B96E65CE-CCEE-4FCE-8066-34222879634E}" type="pres">
      <dgm:prSet presAssocID="{950B9166-BBD5-4751-8135-9084A9C90804}" presName="root2" presStyleCnt="0"/>
      <dgm:spPr/>
    </dgm:pt>
    <dgm:pt modelId="{B7EA8DA0-42CC-424D-9787-4579EF65DF69}" type="pres">
      <dgm:prSet presAssocID="{950B9166-BBD5-4751-8135-9084A9C90804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9769CE2-66B9-4777-B626-489BFDA6C717}" type="pres">
      <dgm:prSet presAssocID="{950B9166-BBD5-4751-8135-9084A9C90804}" presName="level3hierChild" presStyleCnt="0"/>
      <dgm:spPr/>
    </dgm:pt>
    <dgm:pt modelId="{4BD4D76E-40EF-455B-88E5-30A51BCA591A}" type="pres">
      <dgm:prSet presAssocID="{2388B96A-E2EE-4E27-B084-BA5DAB452EF3}" presName="conn2-1" presStyleLbl="parChTrans1D3" presStyleIdx="0" presStyleCnt="1"/>
      <dgm:spPr/>
      <dgm:t>
        <a:bodyPr/>
        <a:lstStyle/>
        <a:p>
          <a:endParaRPr lang="zh-CN" altLang="en-US"/>
        </a:p>
      </dgm:t>
    </dgm:pt>
    <dgm:pt modelId="{20E8211B-DD8E-4D06-9738-525950A42193}" type="pres">
      <dgm:prSet presAssocID="{2388B96A-E2EE-4E27-B084-BA5DAB452EF3}" presName="connTx" presStyleLbl="parChTrans1D3" presStyleIdx="0" presStyleCnt="1"/>
      <dgm:spPr/>
      <dgm:t>
        <a:bodyPr/>
        <a:lstStyle/>
        <a:p>
          <a:endParaRPr lang="zh-CN" altLang="en-US"/>
        </a:p>
      </dgm:t>
    </dgm:pt>
    <dgm:pt modelId="{D3F5E972-7BBB-44CE-A5A5-8A66D2E4A252}" type="pres">
      <dgm:prSet presAssocID="{84783E52-2E84-4110-8CA9-06728E5F9A07}" presName="root2" presStyleCnt="0"/>
      <dgm:spPr/>
    </dgm:pt>
    <dgm:pt modelId="{E0851307-2BFA-486A-ADB1-9FBDFC0780A9}" type="pres">
      <dgm:prSet presAssocID="{84783E52-2E84-4110-8CA9-06728E5F9A07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9AF82CD-C4FE-45D3-BA1F-E7C70D14E785}" type="pres">
      <dgm:prSet presAssocID="{84783E52-2E84-4110-8CA9-06728E5F9A07}" presName="level3hierChild" presStyleCnt="0"/>
      <dgm:spPr/>
    </dgm:pt>
    <dgm:pt modelId="{FF70C2EC-8BAD-4542-AA98-4EF198990994}" type="pres">
      <dgm:prSet presAssocID="{2D01881A-74A3-4836-9BED-FD2812703F83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E77D6E23-E980-4A15-BC01-C4F0D48764BA}" type="pres">
      <dgm:prSet presAssocID="{2D01881A-74A3-4836-9BED-FD2812703F83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6F81D34C-5FCB-4AA4-B6DB-352786FEBFFD}" type="pres">
      <dgm:prSet presAssocID="{60F9AAB3-91A6-459D-B870-B8076449D9A3}" presName="root2" presStyleCnt="0"/>
      <dgm:spPr/>
    </dgm:pt>
    <dgm:pt modelId="{7B1AD3EE-784D-4DF1-876E-B0673B4E2F90}" type="pres">
      <dgm:prSet presAssocID="{60F9AAB3-91A6-459D-B870-B8076449D9A3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680C968-3318-4E52-B280-B75375E7AB89}" type="pres">
      <dgm:prSet presAssocID="{60F9AAB3-91A6-459D-B870-B8076449D9A3}" presName="level3hierChild" presStyleCnt="0"/>
      <dgm:spPr/>
    </dgm:pt>
  </dgm:ptLst>
  <dgm:cxnLst>
    <dgm:cxn modelId="{3E2E39CF-573E-4536-A5F9-B532498DDD55}" type="presOf" srcId="{2388B96A-E2EE-4E27-B084-BA5DAB452EF3}" destId="{4BD4D76E-40EF-455B-88E5-30A51BCA591A}" srcOrd="0" destOrd="0" presId="urn:microsoft.com/office/officeart/2008/layout/HorizontalMultiLevelHierarchy"/>
    <dgm:cxn modelId="{9D5061C0-E05E-48EA-87BB-747EB9CA725C}" type="presOf" srcId="{60F9AAB3-91A6-459D-B870-B8076449D9A3}" destId="{7B1AD3EE-784D-4DF1-876E-B0673B4E2F90}" srcOrd="0" destOrd="0" presId="urn:microsoft.com/office/officeart/2008/layout/HorizontalMultiLevelHierarchy"/>
    <dgm:cxn modelId="{529EF7CA-1C19-47EB-8233-80631BA3364E}" type="presOf" srcId="{2388B96A-E2EE-4E27-B084-BA5DAB452EF3}" destId="{20E8211B-DD8E-4D06-9738-525950A42193}" srcOrd="1" destOrd="0" presId="urn:microsoft.com/office/officeart/2008/layout/HorizontalMultiLevelHierarchy"/>
    <dgm:cxn modelId="{FF1E7EE5-2187-4BFD-89CE-3B44ABF7109E}" type="presOf" srcId="{F85C4EBD-515D-44E2-878A-02EC0E6F18E2}" destId="{1C7A7113-4AD7-4A74-AEAE-9EF5DE7DC689}" srcOrd="0" destOrd="0" presId="urn:microsoft.com/office/officeart/2008/layout/HorizontalMultiLevelHierarchy"/>
    <dgm:cxn modelId="{80AB7CEB-6EA9-4553-8C24-7CE2B6243825}" type="presOf" srcId="{2D01881A-74A3-4836-9BED-FD2812703F83}" destId="{E77D6E23-E980-4A15-BC01-C4F0D48764BA}" srcOrd="1" destOrd="0" presId="urn:microsoft.com/office/officeart/2008/layout/HorizontalMultiLevelHierarchy"/>
    <dgm:cxn modelId="{90260C7D-206A-412A-AB47-99BDC56E76DB}" type="presOf" srcId="{A25A2ADC-5D1E-4CFA-ACF9-EBFF09C50C95}" destId="{03D3249D-D895-4232-872E-F3AFE1539BA9}" srcOrd="0" destOrd="0" presId="urn:microsoft.com/office/officeart/2008/layout/HorizontalMultiLevelHierarchy"/>
    <dgm:cxn modelId="{70F4DDBA-B983-42F5-8101-EA1D0F1265F3}" type="presOf" srcId="{436FF5D9-5BBE-4904-93DA-4B7962D1C808}" destId="{EBBED948-B96A-4EA3-8324-8E77834AAAEA}" srcOrd="1" destOrd="0" presId="urn:microsoft.com/office/officeart/2008/layout/HorizontalMultiLevelHierarchy"/>
    <dgm:cxn modelId="{C9B3F6B5-1BB5-46D1-A041-2D82E7323C01}" type="presOf" srcId="{436FF5D9-5BBE-4904-93DA-4B7962D1C808}" destId="{F85CCF6F-5552-4FBA-9E20-DF0C60F4B811}" srcOrd="0" destOrd="0" presId="urn:microsoft.com/office/officeart/2008/layout/HorizontalMultiLevelHierarchy"/>
    <dgm:cxn modelId="{03F71B06-85CE-43B6-923F-523656967227}" type="presOf" srcId="{84783E52-2E84-4110-8CA9-06728E5F9A07}" destId="{E0851307-2BFA-486A-ADB1-9FBDFC0780A9}" srcOrd="0" destOrd="0" presId="urn:microsoft.com/office/officeart/2008/layout/HorizontalMultiLevelHierarchy"/>
    <dgm:cxn modelId="{0FBC5FB8-1CB5-4D1B-B5C7-9C659E396FE7}" type="presOf" srcId="{2D01881A-74A3-4836-9BED-FD2812703F83}" destId="{FF70C2EC-8BAD-4542-AA98-4EF198990994}" srcOrd="0" destOrd="0" presId="urn:microsoft.com/office/officeart/2008/layout/HorizontalMultiLevelHierarchy"/>
    <dgm:cxn modelId="{A77E2AE6-2707-4486-A688-001F04C19EF5}" srcId="{D7A87ADB-7CB9-41E9-AF10-3CE5DDA65751}" destId="{F85C4EBD-515D-44E2-878A-02EC0E6F18E2}" srcOrd="0" destOrd="0" parTransId="{F4D610E8-D29B-4830-91C5-6675BC3BC391}" sibTransId="{D9AB9CE0-0604-45DF-8A1A-7F54A5E4ED01}"/>
    <dgm:cxn modelId="{BA9EF408-0FB2-4A7F-AA1B-2011DD53571F}" srcId="{D7A87ADB-7CB9-41E9-AF10-3CE5DDA65751}" destId="{950B9166-BBD5-4751-8135-9084A9C90804}" srcOrd="2" destOrd="0" parTransId="{CC43A444-1538-4467-950F-8C8FC25021F5}" sibTransId="{8589E70D-837E-4802-98CC-4E1F3312AD27}"/>
    <dgm:cxn modelId="{F77AE96F-06B4-46B3-A445-8A12D7CE334E}" type="presOf" srcId="{CC43A444-1538-4467-950F-8C8FC25021F5}" destId="{C8700A61-6D5F-4C91-9708-7A4540A31142}" srcOrd="0" destOrd="0" presId="urn:microsoft.com/office/officeart/2008/layout/HorizontalMultiLevelHierarchy"/>
    <dgm:cxn modelId="{65A4BE08-01FA-489F-915B-AD66B23AC2FE}" srcId="{D7A87ADB-7CB9-41E9-AF10-3CE5DDA65751}" destId="{20C2F11A-4D5B-42BD-8B81-02D45E07E819}" srcOrd="1" destOrd="0" parTransId="{436FF5D9-5BBE-4904-93DA-4B7962D1C808}" sibTransId="{430768BC-FBC5-4C6E-84EC-430EA463FA78}"/>
    <dgm:cxn modelId="{54CFE5BA-E6C3-465A-97FA-F039708FF6A3}" srcId="{A25A2ADC-5D1E-4CFA-ACF9-EBFF09C50C95}" destId="{D7A87ADB-7CB9-41E9-AF10-3CE5DDA65751}" srcOrd="0" destOrd="0" parTransId="{3A614542-6D5A-4E23-A292-D0144C0D2F9A}" sibTransId="{E4B289CA-93FD-4294-9C81-FE1D07936319}"/>
    <dgm:cxn modelId="{12672174-0D20-45AD-8FB5-97322CD52431}" type="presOf" srcId="{950B9166-BBD5-4751-8135-9084A9C90804}" destId="{B7EA8DA0-42CC-424D-9787-4579EF65DF69}" srcOrd="0" destOrd="0" presId="urn:microsoft.com/office/officeart/2008/layout/HorizontalMultiLevelHierarchy"/>
    <dgm:cxn modelId="{25B1F763-B636-4B1F-A436-7B516EF2BD2B}" srcId="{D7A87ADB-7CB9-41E9-AF10-3CE5DDA65751}" destId="{60F9AAB3-91A6-459D-B870-B8076449D9A3}" srcOrd="3" destOrd="0" parTransId="{2D01881A-74A3-4836-9BED-FD2812703F83}" sibTransId="{9ABDAC33-EA22-4F05-9D0A-511D14AC7ED7}"/>
    <dgm:cxn modelId="{D7EE11C3-3469-40CF-8E72-CEDF1FFE08DD}" srcId="{950B9166-BBD5-4751-8135-9084A9C90804}" destId="{84783E52-2E84-4110-8CA9-06728E5F9A07}" srcOrd="0" destOrd="0" parTransId="{2388B96A-E2EE-4E27-B084-BA5DAB452EF3}" sibTransId="{E6B3BD62-E7E6-429F-B395-734AB02BE18E}"/>
    <dgm:cxn modelId="{07483F87-E67E-49DF-859B-A0D7F9865418}" type="presOf" srcId="{CC43A444-1538-4467-950F-8C8FC25021F5}" destId="{0DF4A894-04EC-4ECD-86B6-F96FA9AAB4AC}" srcOrd="1" destOrd="0" presId="urn:microsoft.com/office/officeart/2008/layout/HorizontalMultiLevelHierarchy"/>
    <dgm:cxn modelId="{AAA6DB5E-8CB7-4132-A595-95090720A513}" type="presOf" srcId="{F4D610E8-D29B-4830-91C5-6675BC3BC391}" destId="{20C2DE88-F910-4801-AB54-096C23C46E02}" srcOrd="1" destOrd="0" presId="urn:microsoft.com/office/officeart/2008/layout/HorizontalMultiLevelHierarchy"/>
    <dgm:cxn modelId="{82F0CBBB-29AB-4CD2-91BD-9C958CFE8B75}" type="presOf" srcId="{20C2F11A-4D5B-42BD-8B81-02D45E07E819}" destId="{AEEF2398-E252-44A0-B10D-CFDDD121A947}" srcOrd="0" destOrd="0" presId="urn:microsoft.com/office/officeart/2008/layout/HorizontalMultiLevelHierarchy"/>
    <dgm:cxn modelId="{685DE680-67EB-4A7D-BBA7-D0DBA48FE5F5}" type="presOf" srcId="{D7A87ADB-7CB9-41E9-AF10-3CE5DDA65751}" destId="{055B7433-7678-4CFA-BF1A-2062FDD41A9A}" srcOrd="0" destOrd="0" presId="urn:microsoft.com/office/officeart/2008/layout/HorizontalMultiLevelHierarchy"/>
    <dgm:cxn modelId="{9F8EECE1-BA53-4468-AB03-27E5564342EC}" type="presOf" srcId="{F4D610E8-D29B-4830-91C5-6675BC3BC391}" destId="{F38DB19C-B3CE-4611-A11E-074AD8D4D07F}" srcOrd="0" destOrd="0" presId="urn:microsoft.com/office/officeart/2008/layout/HorizontalMultiLevelHierarchy"/>
    <dgm:cxn modelId="{D514639C-06A6-4331-A7C5-BEE5E6584347}" type="presParOf" srcId="{03D3249D-D895-4232-872E-F3AFE1539BA9}" destId="{1912C4A6-9065-4A20-A745-8EFC0347D00C}" srcOrd="0" destOrd="0" presId="urn:microsoft.com/office/officeart/2008/layout/HorizontalMultiLevelHierarchy"/>
    <dgm:cxn modelId="{E99C998C-3034-4F14-AE1F-EBF0FDDD199C}" type="presParOf" srcId="{1912C4A6-9065-4A20-A745-8EFC0347D00C}" destId="{055B7433-7678-4CFA-BF1A-2062FDD41A9A}" srcOrd="0" destOrd="0" presId="urn:microsoft.com/office/officeart/2008/layout/HorizontalMultiLevelHierarchy"/>
    <dgm:cxn modelId="{82289602-77FF-4EE6-89F9-63232C6BE742}" type="presParOf" srcId="{1912C4A6-9065-4A20-A745-8EFC0347D00C}" destId="{766AE009-FE6B-4649-95D0-70E9CB9FA19A}" srcOrd="1" destOrd="0" presId="urn:microsoft.com/office/officeart/2008/layout/HorizontalMultiLevelHierarchy"/>
    <dgm:cxn modelId="{3EB55E3D-56D8-46CC-88A2-5D7F9288A106}" type="presParOf" srcId="{766AE009-FE6B-4649-95D0-70E9CB9FA19A}" destId="{F38DB19C-B3CE-4611-A11E-074AD8D4D07F}" srcOrd="0" destOrd="0" presId="urn:microsoft.com/office/officeart/2008/layout/HorizontalMultiLevelHierarchy"/>
    <dgm:cxn modelId="{43845701-522F-422C-A7FD-8B04BEC92445}" type="presParOf" srcId="{F38DB19C-B3CE-4611-A11E-074AD8D4D07F}" destId="{20C2DE88-F910-4801-AB54-096C23C46E02}" srcOrd="0" destOrd="0" presId="urn:microsoft.com/office/officeart/2008/layout/HorizontalMultiLevelHierarchy"/>
    <dgm:cxn modelId="{D679156E-B0E8-400A-9FC2-A23424BCB03D}" type="presParOf" srcId="{766AE009-FE6B-4649-95D0-70E9CB9FA19A}" destId="{2175B47D-4223-4519-8060-AEC63048C2BF}" srcOrd="1" destOrd="0" presId="urn:microsoft.com/office/officeart/2008/layout/HorizontalMultiLevelHierarchy"/>
    <dgm:cxn modelId="{3E835DDC-FDFD-4FCD-AA4E-205EEA481B7E}" type="presParOf" srcId="{2175B47D-4223-4519-8060-AEC63048C2BF}" destId="{1C7A7113-4AD7-4A74-AEAE-9EF5DE7DC689}" srcOrd="0" destOrd="0" presId="urn:microsoft.com/office/officeart/2008/layout/HorizontalMultiLevelHierarchy"/>
    <dgm:cxn modelId="{42977FBD-2D10-463C-B97A-2F47AD910AE7}" type="presParOf" srcId="{2175B47D-4223-4519-8060-AEC63048C2BF}" destId="{3B635638-D67D-4929-9459-7594C5F61622}" srcOrd="1" destOrd="0" presId="urn:microsoft.com/office/officeart/2008/layout/HorizontalMultiLevelHierarchy"/>
    <dgm:cxn modelId="{E08C106C-819D-4B4F-A6A4-24CCCC17C182}" type="presParOf" srcId="{766AE009-FE6B-4649-95D0-70E9CB9FA19A}" destId="{F85CCF6F-5552-4FBA-9E20-DF0C60F4B811}" srcOrd="2" destOrd="0" presId="urn:microsoft.com/office/officeart/2008/layout/HorizontalMultiLevelHierarchy"/>
    <dgm:cxn modelId="{7EB14231-4A91-4164-B5BF-41A074762B79}" type="presParOf" srcId="{F85CCF6F-5552-4FBA-9E20-DF0C60F4B811}" destId="{EBBED948-B96A-4EA3-8324-8E77834AAAEA}" srcOrd="0" destOrd="0" presId="urn:microsoft.com/office/officeart/2008/layout/HorizontalMultiLevelHierarchy"/>
    <dgm:cxn modelId="{6FB64B43-CC73-4B65-9B0E-F5BB1888E22D}" type="presParOf" srcId="{766AE009-FE6B-4649-95D0-70E9CB9FA19A}" destId="{C4BA4776-081D-4102-95AB-193CEEC46BBD}" srcOrd="3" destOrd="0" presId="urn:microsoft.com/office/officeart/2008/layout/HorizontalMultiLevelHierarchy"/>
    <dgm:cxn modelId="{05FE2BEF-E0BB-4A60-A562-D7572D8C43BF}" type="presParOf" srcId="{C4BA4776-081D-4102-95AB-193CEEC46BBD}" destId="{AEEF2398-E252-44A0-B10D-CFDDD121A947}" srcOrd="0" destOrd="0" presId="urn:microsoft.com/office/officeart/2008/layout/HorizontalMultiLevelHierarchy"/>
    <dgm:cxn modelId="{89577B90-058B-4B8B-A83C-086E27CAB76F}" type="presParOf" srcId="{C4BA4776-081D-4102-95AB-193CEEC46BBD}" destId="{82C0F6CE-8F2C-420A-9624-0B2EA48845A2}" srcOrd="1" destOrd="0" presId="urn:microsoft.com/office/officeart/2008/layout/HorizontalMultiLevelHierarchy"/>
    <dgm:cxn modelId="{19FEC91D-879E-4A28-9392-DE00AE0B619E}" type="presParOf" srcId="{766AE009-FE6B-4649-95D0-70E9CB9FA19A}" destId="{C8700A61-6D5F-4C91-9708-7A4540A31142}" srcOrd="4" destOrd="0" presId="urn:microsoft.com/office/officeart/2008/layout/HorizontalMultiLevelHierarchy"/>
    <dgm:cxn modelId="{49294E9E-AABC-40C8-9AC1-46E0EAFF9062}" type="presParOf" srcId="{C8700A61-6D5F-4C91-9708-7A4540A31142}" destId="{0DF4A894-04EC-4ECD-86B6-F96FA9AAB4AC}" srcOrd="0" destOrd="0" presId="urn:microsoft.com/office/officeart/2008/layout/HorizontalMultiLevelHierarchy"/>
    <dgm:cxn modelId="{86C39988-035E-46CC-8632-6FFC96C6A9C8}" type="presParOf" srcId="{766AE009-FE6B-4649-95D0-70E9CB9FA19A}" destId="{B96E65CE-CCEE-4FCE-8066-34222879634E}" srcOrd="5" destOrd="0" presId="urn:microsoft.com/office/officeart/2008/layout/HorizontalMultiLevelHierarchy"/>
    <dgm:cxn modelId="{7B50D017-391C-420F-8F2C-81C926DC7A2F}" type="presParOf" srcId="{B96E65CE-CCEE-4FCE-8066-34222879634E}" destId="{B7EA8DA0-42CC-424D-9787-4579EF65DF69}" srcOrd="0" destOrd="0" presId="urn:microsoft.com/office/officeart/2008/layout/HorizontalMultiLevelHierarchy"/>
    <dgm:cxn modelId="{B33C5BCD-C692-4D81-932B-530CC7F9076C}" type="presParOf" srcId="{B96E65CE-CCEE-4FCE-8066-34222879634E}" destId="{D9769CE2-66B9-4777-B626-489BFDA6C717}" srcOrd="1" destOrd="0" presId="urn:microsoft.com/office/officeart/2008/layout/HorizontalMultiLevelHierarchy"/>
    <dgm:cxn modelId="{AFED02AC-7C39-43A5-ADE6-F5D4E22B1424}" type="presParOf" srcId="{D9769CE2-66B9-4777-B626-489BFDA6C717}" destId="{4BD4D76E-40EF-455B-88E5-30A51BCA591A}" srcOrd="0" destOrd="0" presId="urn:microsoft.com/office/officeart/2008/layout/HorizontalMultiLevelHierarchy"/>
    <dgm:cxn modelId="{0A3CA667-CA62-4814-A63D-8AF63AF84E44}" type="presParOf" srcId="{4BD4D76E-40EF-455B-88E5-30A51BCA591A}" destId="{20E8211B-DD8E-4D06-9738-525950A42193}" srcOrd="0" destOrd="0" presId="urn:microsoft.com/office/officeart/2008/layout/HorizontalMultiLevelHierarchy"/>
    <dgm:cxn modelId="{C0A4458C-4989-4415-830C-A784162FB3BF}" type="presParOf" srcId="{D9769CE2-66B9-4777-B626-489BFDA6C717}" destId="{D3F5E972-7BBB-44CE-A5A5-8A66D2E4A252}" srcOrd="1" destOrd="0" presId="urn:microsoft.com/office/officeart/2008/layout/HorizontalMultiLevelHierarchy"/>
    <dgm:cxn modelId="{3A10BA28-330C-4EDD-84FA-0BC39A61E614}" type="presParOf" srcId="{D3F5E972-7BBB-44CE-A5A5-8A66D2E4A252}" destId="{E0851307-2BFA-486A-ADB1-9FBDFC0780A9}" srcOrd="0" destOrd="0" presId="urn:microsoft.com/office/officeart/2008/layout/HorizontalMultiLevelHierarchy"/>
    <dgm:cxn modelId="{1EA3EC04-4F16-430A-B2D1-F511AA730E54}" type="presParOf" srcId="{D3F5E972-7BBB-44CE-A5A5-8A66D2E4A252}" destId="{B9AF82CD-C4FE-45D3-BA1F-E7C70D14E785}" srcOrd="1" destOrd="0" presId="urn:microsoft.com/office/officeart/2008/layout/HorizontalMultiLevelHierarchy"/>
    <dgm:cxn modelId="{FD51297C-090C-495B-AD23-F2A4E49FEBA7}" type="presParOf" srcId="{766AE009-FE6B-4649-95D0-70E9CB9FA19A}" destId="{FF70C2EC-8BAD-4542-AA98-4EF198990994}" srcOrd="6" destOrd="0" presId="urn:microsoft.com/office/officeart/2008/layout/HorizontalMultiLevelHierarchy"/>
    <dgm:cxn modelId="{2441730F-5D75-4156-9AE2-C00762123180}" type="presParOf" srcId="{FF70C2EC-8BAD-4542-AA98-4EF198990994}" destId="{E77D6E23-E980-4A15-BC01-C4F0D48764BA}" srcOrd="0" destOrd="0" presId="urn:microsoft.com/office/officeart/2008/layout/HorizontalMultiLevelHierarchy"/>
    <dgm:cxn modelId="{173EB465-DC0D-483A-A142-7F135A2AAF62}" type="presParOf" srcId="{766AE009-FE6B-4649-95D0-70E9CB9FA19A}" destId="{6F81D34C-5FCB-4AA4-B6DB-352786FEBFFD}" srcOrd="7" destOrd="0" presId="urn:microsoft.com/office/officeart/2008/layout/HorizontalMultiLevelHierarchy"/>
    <dgm:cxn modelId="{CFA4DEE6-491D-4038-9849-73118F6BCA57}" type="presParOf" srcId="{6F81D34C-5FCB-4AA4-B6DB-352786FEBFFD}" destId="{7B1AD3EE-784D-4DF1-876E-B0673B4E2F90}" srcOrd="0" destOrd="0" presId="urn:microsoft.com/office/officeart/2008/layout/HorizontalMultiLevelHierarchy"/>
    <dgm:cxn modelId="{B5C8F10E-BB28-4F0B-B1E0-D76512303DAA}" type="presParOf" srcId="{6F81D34C-5FCB-4AA4-B6DB-352786FEBFFD}" destId="{8680C968-3318-4E52-B280-B75375E7AB8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0C2EC-8BAD-4542-AA98-4EF198990994}">
      <dsp:nvSpPr>
        <dsp:cNvPr id="0" name=""/>
        <dsp:cNvSpPr/>
      </dsp:nvSpPr>
      <dsp:spPr>
        <a:xfrm>
          <a:off x="1966066" y="1224136"/>
          <a:ext cx="305152" cy="87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576" y="0"/>
              </a:lnTo>
              <a:lnTo>
                <a:pt x="152576" y="872196"/>
              </a:lnTo>
              <a:lnTo>
                <a:pt x="305152" y="8721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95541" y="1637133"/>
        <a:ext cx="46201" cy="46201"/>
      </dsp:txXfrm>
    </dsp:sp>
    <dsp:sp modelId="{4BD4D76E-40EF-455B-88E5-30A51BCA591A}">
      <dsp:nvSpPr>
        <dsp:cNvPr id="0" name=""/>
        <dsp:cNvSpPr/>
      </dsp:nvSpPr>
      <dsp:spPr>
        <a:xfrm>
          <a:off x="3796981" y="1469148"/>
          <a:ext cx="3051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515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941929" y="1507239"/>
        <a:ext cx="15257" cy="15257"/>
      </dsp:txXfrm>
    </dsp:sp>
    <dsp:sp modelId="{C8700A61-6D5F-4C91-9708-7A4540A31142}">
      <dsp:nvSpPr>
        <dsp:cNvPr id="0" name=""/>
        <dsp:cNvSpPr/>
      </dsp:nvSpPr>
      <dsp:spPr>
        <a:xfrm>
          <a:off x="1966066" y="1224136"/>
          <a:ext cx="305152" cy="290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576" y="0"/>
              </a:lnTo>
              <a:lnTo>
                <a:pt x="152576" y="290732"/>
              </a:lnTo>
              <a:lnTo>
                <a:pt x="305152" y="29073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108105" y="1358965"/>
        <a:ext cx="21073" cy="21073"/>
      </dsp:txXfrm>
    </dsp:sp>
    <dsp:sp modelId="{F85CCF6F-5552-4FBA-9E20-DF0C60F4B811}">
      <dsp:nvSpPr>
        <dsp:cNvPr id="0" name=""/>
        <dsp:cNvSpPr/>
      </dsp:nvSpPr>
      <dsp:spPr>
        <a:xfrm>
          <a:off x="1966066" y="933403"/>
          <a:ext cx="305152" cy="290732"/>
        </a:xfrm>
        <a:custGeom>
          <a:avLst/>
          <a:gdLst/>
          <a:ahLst/>
          <a:cxnLst/>
          <a:rect l="0" t="0" r="0" b="0"/>
          <a:pathLst>
            <a:path>
              <a:moveTo>
                <a:pt x="0" y="290732"/>
              </a:moveTo>
              <a:lnTo>
                <a:pt x="152576" y="290732"/>
              </a:lnTo>
              <a:lnTo>
                <a:pt x="152576" y="0"/>
              </a:lnTo>
              <a:lnTo>
                <a:pt x="30515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108105" y="1068232"/>
        <a:ext cx="21073" cy="21073"/>
      </dsp:txXfrm>
    </dsp:sp>
    <dsp:sp modelId="{F38DB19C-B3CE-4611-A11E-074AD8D4D07F}">
      <dsp:nvSpPr>
        <dsp:cNvPr id="0" name=""/>
        <dsp:cNvSpPr/>
      </dsp:nvSpPr>
      <dsp:spPr>
        <a:xfrm>
          <a:off x="1966066" y="351939"/>
          <a:ext cx="305152" cy="872196"/>
        </a:xfrm>
        <a:custGeom>
          <a:avLst/>
          <a:gdLst/>
          <a:ahLst/>
          <a:cxnLst/>
          <a:rect l="0" t="0" r="0" b="0"/>
          <a:pathLst>
            <a:path>
              <a:moveTo>
                <a:pt x="0" y="872196"/>
              </a:moveTo>
              <a:lnTo>
                <a:pt x="152576" y="872196"/>
              </a:lnTo>
              <a:lnTo>
                <a:pt x="152576" y="0"/>
              </a:lnTo>
              <a:lnTo>
                <a:pt x="30515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95541" y="764936"/>
        <a:ext cx="46201" cy="46201"/>
      </dsp:txXfrm>
    </dsp:sp>
    <dsp:sp modelId="{055B7433-7678-4CFA-BF1A-2062FDD41A9A}">
      <dsp:nvSpPr>
        <dsp:cNvPr id="0" name=""/>
        <dsp:cNvSpPr/>
      </dsp:nvSpPr>
      <dsp:spPr>
        <a:xfrm rot="16200000">
          <a:off x="695976" y="991550"/>
          <a:ext cx="2075008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启发式算法</a:t>
          </a:r>
          <a:endParaRPr lang="zh-CN" altLang="en-US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95976" y="991550"/>
        <a:ext cx="2075008" cy="465171"/>
      </dsp:txXfrm>
    </dsp:sp>
    <dsp:sp modelId="{1C7A7113-4AD7-4A74-AEAE-9EF5DE7DC689}">
      <dsp:nvSpPr>
        <dsp:cNvPr id="0" name=""/>
        <dsp:cNvSpPr/>
      </dsp:nvSpPr>
      <dsp:spPr>
        <a:xfrm>
          <a:off x="2271218" y="119353"/>
          <a:ext cx="1525763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模拟退火算法</a:t>
          </a:r>
          <a:endParaRPr lang="zh-CN" altLang="en-US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1218" y="119353"/>
        <a:ext cx="1525763" cy="465171"/>
      </dsp:txXfrm>
    </dsp:sp>
    <dsp:sp modelId="{AEEF2398-E252-44A0-B10D-CFDDD121A947}">
      <dsp:nvSpPr>
        <dsp:cNvPr id="0" name=""/>
        <dsp:cNvSpPr/>
      </dsp:nvSpPr>
      <dsp:spPr>
        <a:xfrm>
          <a:off x="2271218" y="700817"/>
          <a:ext cx="1525763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禁忌搜索</a:t>
          </a:r>
          <a:endParaRPr lang="zh-CN" altLang="en-US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1218" y="700817"/>
        <a:ext cx="1525763" cy="465171"/>
      </dsp:txXfrm>
    </dsp:sp>
    <dsp:sp modelId="{B7EA8DA0-42CC-424D-9787-4579EF65DF69}">
      <dsp:nvSpPr>
        <dsp:cNvPr id="0" name=""/>
        <dsp:cNvSpPr/>
      </dsp:nvSpPr>
      <dsp:spPr>
        <a:xfrm>
          <a:off x="2271218" y="1282282"/>
          <a:ext cx="1525763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遗传算法</a:t>
          </a:r>
          <a:endParaRPr lang="zh-CN" altLang="en-US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1218" y="1282282"/>
        <a:ext cx="1525763" cy="465171"/>
      </dsp:txXfrm>
    </dsp:sp>
    <dsp:sp modelId="{E0851307-2BFA-486A-ADB1-9FBDFC0780A9}">
      <dsp:nvSpPr>
        <dsp:cNvPr id="0" name=""/>
        <dsp:cNvSpPr/>
      </dsp:nvSpPr>
      <dsp:spPr>
        <a:xfrm>
          <a:off x="4102134" y="1282282"/>
          <a:ext cx="1525763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分布估计算法</a:t>
          </a:r>
          <a:endParaRPr lang="zh-CN" altLang="en-US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02134" y="1282282"/>
        <a:ext cx="1525763" cy="465171"/>
      </dsp:txXfrm>
    </dsp:sp>
    <dsp:sp modelId="{7B1AD3EE-784D-4DF1-876E-B0673B4E2F90}">
      <dsp:nvSpPr>
        <dsp:cNvPr id="0" name=""/>
        <dsp:cNvSpPr/>
      </dsp:nvSpPr>
      <dsp:spPr>
        <a:xfrm>
          <a:off x="2271218" y="1863747"/>
          <a:ext cx="1525763" cy="4651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人工神经网络</a:t>
          </a:r>
          <a:endParaRPr lang="zh-CN" altLang="en-US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1218" y="1863747"/>
        <a:ext cx="1525763" cy="465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B64BC-C26D-49B1-97CF-C641A4AF9368}" type="datetimeFigureOut">
              <a:rPr lang="zh-CN" altLang="en-US" smtClean="0"/>
              <a:pPr/>
              <a:t>2026/3/4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5A110-11CC-4BC6-98E5-FA42A45107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8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E436C-1CBC-43A2-9C5F-B85917E8B182}" type="datetimeFigureOut">
              <a:rPr lang="zh-CN" altLang="en-US" smtClean="0"/>
              <a:pPr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D3BB7-C253-4662-A009-425F41EF819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5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573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830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68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638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058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835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224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09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73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693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09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13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780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66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54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96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388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924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0173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620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845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663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40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4448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275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5625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34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6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0441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4266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24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1811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975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5938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720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8071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298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2436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824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595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056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5595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1628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2366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0256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372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4736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339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4671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6888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1593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3568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8982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653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043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529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D3BB7-C253-4662-A009-425F41EF8196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36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9CB-34FF-4C69-90B9-8DF775D5459D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F3E2-2EE7-4C45-ACB4-31C6A2B659A3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8133A-846D-4633-9F2B-3C5D7BAA60E7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00B0-820D-4989-88A6-83377AC9A6C3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FE42-F2BE-4F00-A5FB-67E7A179E7E5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3074" name="Picture 2" descr="F:\Thesis Writing\工学硕士学位论文答辩\ack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57E0-5B6B-4CC8-8DC9-14ED4A9D736D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CE74-E163-44B6-8760-BA50A0FEC8B0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794D-E51D-49C8-BD14-82446A56E4EE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48D9-51A3-4F71-8917-D86988F5067D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F141-8BBE-42F7-AA40-A1A0EE106B68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D926E-7C98-47A3-A85B-204D8FED7284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65894-E3CF-4F4C-AE39-7AE3AB96C21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2050" name="Picture 2" descr="F:\Thesis Writing\工学硕士学位论文答辩\content.gif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440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44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1556792"/>
            <a:ext cx="8501122" cy="2000264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4200" b="1" dirty="0">
                <a:latin typeface="黑体" pitchFamily="2" charset="-122"/>
                <a:ea typeface="黑体" pitchFamily="2" charset="-122"/>
              </a:rPr>
              <a:t>单变量分布</a:t>
            </a:r>
            <a:r>
              <a:rPr lang="zh-CN" altLang="en-US" sz="4200" b="1">
                <a:latin typeface="黑体" pitchFamily="2" charset="-122"/>
                <a:ea typeface="黑体" pitchFamily="2" charset="-122"/>
              </a:rPr>
              <a:t>估计</a:t>
            </a:r>
            <a:r>
              <a:rPr lang="zh-CN" altLang="en-US" sz="4200" b="1" smtClean="0">
                <a:latin typeface="黑体" pitchFamily="2" charset="-122"/>
                <a:ea typeface="黑体" pitchFamily="2" charset="-122"/>
              </a:rPr>
              <a:t>算法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sz="2800" dirty="0">
                <a:latin typeface="Arial" pitchFamily="34" charset="0"/>
                <a:ea typeface="黑体" pitchFamily="2" charset="-122"/>
                <a:cs typeface="Arial" pitchFamily="34" charset="0"/>
              </a:rPr>
              <a:t>A Study on Univariate Estimation of</a:t>
            </a:r>
            <a:br>
              <a:rPr lang="en-US" altLang="zh-CN" sz="2800" dirty="0">
                <a:latin typeface="Arial" pitchFamily="34" charset="0"/>
                <a:ea typeface="黑体" pitchFamily="2" charset="-122"/>
                <a:cs typeface="Arial" pitchFamily="34" charset="0"/>
              </a:rPr>
            </a:br>
            <a:r>
              <a:rPr lang="en-US" altLang="zh-CN" sz="2800" dirty="0">
                <a:latin typeface="Arial" pitchFamily="34" charset="0"/>
                <a:ea typeface="黑体" pitchFamily="2" charset="-122"/>
                <a:cs typeface="Arial" pitchFamily="34" charset="0"/>
              </a:rPr>
              <a:t>Distribution Algorithms</a:t>
            </a:r>
            <a:endParaRPr lang="zh-CN" altLang="en-US" sz="2800" dirty="0">
              <a:latin typeface="Arial" pitchFamily="34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9552" y="4365104"/>
            <a:ext cx="6615114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—《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演化机器学习（第二版）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上篇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讲义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690A1978-020C-4EF5-A1AF-A6728BCEF5D7}" type="datetime11">
              <a:rPr lang="zh-CN" altLang="en-US" smtClean="0"/>
              <a:pPr/>
              <a:t>18:33:26</a:t>
            </a:fld>
            <a:endParaRPr lang="zh-CN" altLang="en-US"/>
          </a:p>
        </p:txBody>
      </p:sp>
    </p:spTree>
  </p:cSld>
  <p:clrMapOvr>
    <a:masterClrMapping/>
  </p:clrMapOvr>
  <p:transition advTm="13961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二、基于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共轭先验的单模分布估计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THEDA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三、基于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信息熵的多模分布估计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QEALL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995877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问题背景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路线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共轭先验的单模分布估计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THEDA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信息熵的多模分布估计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QEALL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s-MEDAD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116767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起源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组合最优化问题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广泛存在于生产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生活中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/>
              <a:t>Reeves 1993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被抽象为各种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不同的理论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的研究：寻找最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计算复杂性理论的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发展，一些组合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可能不存在多项式时间的算法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58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36"/>
    </mc:Choice>
    <mc:Fallback xmlns="">
      <p:transition spd="slow" advTm="18336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起源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启发式算法的优势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>
                <a:solidFill>
                  <a:prstClr val="black"/>
                </a:solidFill>
              </a:rPr>
              <a:t>Reeves 1993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对自然界现象或者规律的抽象和模拟，其方法和原理简单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启发式算法是一类计算框架，与具体问题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无关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启发式算法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的速度较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常用现代启发式算法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37" name="图示 36"/>
          <p:cNvGraphicFramePr/>
          <p:nvPr>
            <p:extLst>
              <p:ext uri="{D42A27DB-BD31-4B8C-83A1-F6EECF244321}">
                <p14:modId xmlns:p14="http://schemas.microsoft.com/office/powerpoint/2010/main" val="260590766"/>
              </p:ext>
            </p:extLst>
          </p:nvPr>
        </p:nvGraphicFramePr>
        <p:xfrm>
          <a:off x="107504" y="4365104"/>
          <a:ext cx="7128792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9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66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47"/>
    </mc:Choice>
    <mc:Fallback xmlns="">
      <p:transition spd="slow" advTm="2524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25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遗传算法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>
                <a:solidFill>
                  <a:prstClr val="black"/>
                </a:solidFill>
              </a:rPr>
              <a:t>Davis 1991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生物进化过程的计算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启发式搜索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一种高效、并行、全局搜索的方法</a:t>
            </a:r>
          </a:p>
          <a:p>
            <a:pPr lvl="1"/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11560" y="4995683"/>
            <a:ext cx="902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</a:p>
          <a:p>
            <a:r>
              <a:rPr lang="en-US" altLang="zh-CN" sz="2000" b="1" dirty="0" smtClean="0"/>
              <a:t>0010</a:t>
            </a:r>
          </a:p>
          <a:p>
            <a:r>
              <a:rPr lang="en-US" altLang="zh-CN" sz="2000" b="1" dirty="0" smtClean="0"/>
              <a:t>1000</a:t>
            </a:r>
            <a:endParaRPr lang="zh-CN" altLang="en-US" sz="20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1500648" y="4995683"/>
            <a:ext cx="1487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F=2</a:t>
            </a:r>
          </a:p>
          <a:p>
            <a:r>
              <a:rPr lang="en-US" altLang="zh-CN" sz="2000" b="1" dirty="0" smtClean="0"/>
              <a:t>0111  </a:t>
            </a:r>
            <a:r>
              <a:rPr lang="en-US" altLang="zh-CN" sz="2000" b="1" dirty="0">
                <a:solidFill>
                  <a:srgbClr val="FF0000"/>
                </a:solidFill>
              </a:rPr>
              <a:t>F=3</a:t>
            </a:r>
          </a:p>
          <a:p>
            <a:r>
              <a:rPr lang="en-US" altLang="zh-CN" sz="2000" b="1" dirty="0" smtClean="0"/>
              <a:t>0010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F=1</a:t>
            </a:r>
          </a:p>
          <a:p>
            <a:r>
              <a:rPr lang="en-US" altLang="zh-CN" sz="2000" b="1" dirty="0" smtClean="0"/>
              <a:t>1000  </a:t>
            </a:r>
            <a:r>
              <a:rPr lang="en-US" altLang="zh-CN" sz="2000" b="1" dirty="0">
                <a:solidFill>
                  <a:srgbClr val="FF0000"/>
                </a:solidFill>
              </a:rPr>
              <a:t>F=1</a:t>
            </a:r>
          </a:p>
          <a:p>
            <a:endParaRPr lang="zh-CN" altLang="en-US" sz="20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2938880" y="4983496"/>
            <a:ext cx="10982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</a:p>
          <a:p>
            <a:endParaRPr lang="en-US" altLang="zh-CN" sz="2000" b="1" dirty="0" smtClean="0"/>
          </a:p>
          <a:p>
            <a:endParaRPr lang="zh-CN" altLang="en-US" sz="20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067944" y="4995683"/>
            <a:ext cx="14229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11</a:t>
            </a:r>
          </a:p>
          <a:p>
            <a:r>
              <a:rPr lang="en-US" altLang="zh-CN" sz="2000" b="1" dirty="0" smtClean="0"/>
              <a:t>01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  <a:endParaRPr lang="zh-CN" altLang="en-US" sz="20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5220072" y="4986761"/>
            <a:ext cx="910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r>
              <a:rPr lang="en-US" altLang="zh-CN" sz="2000" b="1" dirty="0" smtClean="0"/>
              <a:t>11</a:t>
            </a:r>
          </a:p>
          <a:p>
            <a:r>
              <a:rPr lang="en-US" altLang="zh-CN" sz="2000" b="1" dirty="0" smtClean="0"/>
              <a:t>011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  <a:endParaRPr lang="zh-CN" altLang="en-US" sz="2000" b="1" dirty="0"/>
          </a:p>
        </p:txBody>
      </p:sp>
      <p:sp>
        <p:nvSpPr>
          <p:cNvPr id="32" name="矩形 31"/>
          <p:cNvSpPr/>
          <p:nvPr/>
        </p:nvSpPr>
        <p:spPr>
          <a:xfrm>
            <a:off x="7596336" y="4941168"/>
            <a:ext cx="11208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 smtClean="0"/>
              <a:t>1111</a:t>
            </a:r>
          </a:p>
        </p:txBody>
      </p:sp>
      <p:sp>
        <p:nvSpPr>
          <p:cNvPr id="34" name="矩形 33"/>
          <p:cNvSpPr/>
          <p:nvPr/>
        </p:nvSpPr>
        <p:spPr>
          <a:xfrm>
            <a:off x="1491545" y="5064172"/>
            <a:ext cx="1205449" cy="597076"/>
          </a:xfrm>
          <a:prstGeom prst="rect">
            <a:avLst/>
          </a:prstGeom>
          <a:noFill/>
          <a:ln w="38100">
            <a:solidFill>
              <a:srgbClr val="0066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497598" y="3904668"/>
            <a:ext cx="8147216" cy="944140"/>
            <a:chOff x="609959" y="1523470"/>
            <a:chExt cx="8147216" cy="944140"/>
          </a:xfrm>
        </p:grpSpPr>
        <p:sp>
          <p:nvSpPr>
            <p:cNvPr id="58" name="矩形 57"/>
            <p:cNvSpPr/>
            <p:nvPr/>
          </p:nvSpPr>
          <p:spPr>
            <a:xfrm>
              <a:off x="1797585" y="1868804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2937013" y="1869393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076441" y="1868804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5222219" y="1868804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箭头连接符 61"/>
            <p:cNvCxnSpPr>
              <a:stCxn id="58" idx="3"/>
              <a:endCxn id="59" idx="1"/>
            </p:cNvCxnSpPr>
            <p:nvPr/>
          </p:nvCxnSpPr>
          <p:spPr>
            <a:xfrm>
              <a:off x="2685491" y="21435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3831269" y="21435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>
              <a:off x="4970697" y="21435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流程图: 决策 64"/>
            <p:cNvSpPr/>
            <p:nvPr/>
          </p:nvSpPr>
          <p:spPr>
            <a:xfrm>
              <a:off x="6346604" y="1819538"/>
              <a:ext cx="1224136" cy="648072"/>
            </a:xfrm>
            <a:prstGeom prst="flowChartDecision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直接箭头连接符 65"/>
            <p:cNvCxnSpPr/>
            <p:nvPr/>
          </p:nvCxnSpPr>
          <p:spPr>
            <a:xfrm>
              <a:off x="6095082" y="21435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流程图: 终止 66"/>
            <p:cNvSpPr/>
            <p:nvPr/>
          </p:nvSpPr>
          <p:spPr>
            <a:xfrm>
              <a:off x="7821071" y="1891546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箭头连接符 67"/>
            <p:cNvCxnSpPr/>
            <p:nvPr/>
          </p:nvCxnSpPr>
          <p:spPr>
            <a:xfrm>
              <a:off x="7570740" y="21435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流程图: 终止 68"/>
            <p:cNvSpPr/>
            <p:nvPr/>
          </p:nvSpPr>
          <p:spPr>
            <a:xfrm>
              <a:off x="609959" y="1891546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1540759" y="2156774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637916" y="2017164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初始种群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10"/>
            <p:cNvSpPr>
              <a:spLocks noChangeArrowheads="1"/>
            </p:cNvSpPr>
            <p:nvPr/>
          </p:nvSpPr>
          <p:spPr bwMode="auto">
            <a:xfrm>
              <a:off x="1801553" y="2017164"/>
              <a:ext cx="493713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评价函数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15"/>
            <p:cNvSpPr>
              <a:spLocks noChangeArrowheads="1"/>
            </p:cNvSpPr>
            <p:nvPr/>
          </p:nvSpPr>
          <p:spPr bwMode="auto">
            <a:xfrm>
              <a:off x="2944553" y="2013989"/>
              <a:ext cx="4953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选择算子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4082791" y="2012401"/>
              <a:ext cx="5207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交叉算子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21"/>
            <p:cNvSpPr>
              <a:spLocks noChangeArrowheads="1"/>
            </p:cNvSpPr>
            <p:nvPr/>
          </p:nvSpPr>
          <p:spPr bwMode="auto">
            <a:xfrm>
              <a:off x="5216266" y="2010814"/>
              <a:ext cx="5207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变异算子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24"/>
            <p:cNvSpPr>
              <a:spLocks noChangeArrowheads="1"/>
            </p:cNvSpPr>
            <p:nvPr/>
          </p:nvSpPr>
          <p:spPr bwMode="auto">
            <a:xfrm>
              <a:off x="6529128" y="2004464"/>
              <a:ext cx="49530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终止条件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7854691" y="2017164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输出结果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78" name="肘形连接符 77"/>
            <p:cNvCxnSpPr>
              <a:stCxn id="65" idx="0"/>
              <a:endCxn id="58" idx="0"/>
            </p:cNvCxnSpPr>
            <p:nvPr/>
          </p:nvCxnSpPr>
          <p:spPr>
            <a:xfrm rot="16200000" flipH="1" flipV="1">
              <a:off x="4575472" y="-514396"/>
              <a:ext cx="49266" cy="4717134"/>
            </a:xfrm>
            <a:prstGeom prst="bentConnector3">
              <a:avLst>
                <a:gd name="adj1" fmla="val -464012"/>
              </a:avLst>
            </a:prstGeom>
            <a:ln w="28575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30"/>
            <p:cNvSpPr>
              <a:spLocks noChangeArrowheads="1"/>
            </p:cNvSpPr>
            <p:nvPr/>
          </p:nvSpPr>
          <p:spPr bwMode="auto">
            <a:xfrm>
              <a:off x="7024428" y="1523470"/>
              <a:ext cx="31115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否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31"/>
            <p:cNvSpPr>
              <a:spLocks noChangeArrowheads="1"/>
            </p:cNvSpPr>
            <p:nvPr/>
          </p:nvSpPr>
          <p:spPr bwMode="auto">
            <a:xfrm>
              <a:off x="7508333" y="1796706"/>
              <a:ext cx="312738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706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47"/>
    </mc:Choice>
    <mc:Fallback xmlns="">
      <p:transition spd="slow" advTm="252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0" grpId="0"/>
      <p:bldP spid="31" grpId="0"/>
      <p:bldP spid="32" grpId="0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分布估计算法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 smtClean="0">
                <a:solidFill>
                  <a:prstClr val="black"/>
                </a:solidFill>
              </a:rPr>
              <a:t>Larrañaga</a:t>
            </a:r>
            <a:r>
              <a:rPr lang="en-US" altLang="zh-CN" sz="2000" dirty="0" smtClean="0">
                <a:solidFill>
                  <a:prstClr val="black"/>
                </a:solidFill>
              </a:rPr>
              <a:t> 2002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以概率模型的演化为核心的启发式算法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11560" y="4102040"/>
            <a:ext cx="902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</a:p>
          <a:p>
            <a:r>
              <a:rPr lang="en-US" altLang="zh-CN" sz="2000" b="1" dirty="0" smtClean="0"/>
              <a:t>0010</a:t>
            </a:r>
          </a:p>
          <a:p>
            <a:r>
              <a:rPr lang="en-US" altLang="zh-CN" sz="2000" b="1" dirty="0" smtClean="0"/>
              <a:t>1000</a:t>
            </a:r>
            <a:endParaRPr lang="zh-CN" altLang="en-US" sz="20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1500648" y="4102040"/>
            <a:ext cx="1487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F=2</a:t>
            </a:r>
          </a:p>
          <a:p>
            <a:r>
              <a:rPr lang="en-US" altLang="zh-CN" sz="2000" b="1" dirty="0" smtClean="0"/>
              <a:t>0111  </a:t>
            </a:r>
            <a:r>
              <a:rPr lang="en-US" altLang="zh-CN" sz="2000" b="1" dirty="0">
                <a:solidFill>
                  <a:srgbClr val="FF0000"/>
                </a:solidFill>
              </a:rPr>
              <a:t>F=3</a:t>
            </a:r>
          </a:p>
          <a:p>
            <a:r>
              <a:rPr lang="en-US" altLang="zh-CN" sz="2000" b="1" dirty="0" smtClean="0"/>
              <a:t>0010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F=1</a:t>
            </a:r>
          </a:p>
          <a:p>
            <a:r>
              <a:rPr lang="en-US" altLang="zh-CN" sz="2000" b="1" dirty="0" smtClean="0"/>
              <a:t>1000  </a:t>
            </a:r>
            <a:r>
              <a:rPr lang="en-US" altLang="zh-CN" sz="2000" b="1" dirty="0">
                <a:solidFill>
                  <a:srgbClr val="FF0000"/>
                </a:solidFill>
              </a:rPr>
              <a:t>F=1</a:t>
            </a:r>
          </a:p>
          <a:p>
            <a:endParaRPr lang="zh-CN" altLang="en-US" sz="20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2940458" y="4370690"/>
            <a:ext cx="10982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</a:p>
          <a:p>
            <a:endParaRPr lang="en-US" altLang="zh-CN" sz="2000" b="1" dirty="0" smtClean="0"/>
          </a:p>
          <a:p>
            <a:endParaRPr lang="zh-CN" altLang="en-US" sz="20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5220072" y="4093118"/>
            <a:ext cx="910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1111</a:t>
            </a:r>
          </a:p>
          <a:p>
            <a:r>
              <a:rPr lang="en-US" altLang="zh-CN" sz="2000" b="1" dirty="0" smtClean="0"/>
              <a:t>0111</a:t>
            </a:r>
          </a:p>
          <a:p>
            <a:r>
              <a:rPr lang="en-US" altLang="zh-CN" sz="2000" b="1" dirty="0" smtClean="0"/>
              <a:t>1010</a:t>
            </a:r>
          </a:p>
          <a:p>
            <a:r>
              <a:rPr lang="en-US" altLang="zh-CN" sz="2000" b="1" dirty="0" smtClean="0"/>
              <a:t>0111</a:t>
            </a:r>
            <a:endParaRPr lang="zh-CN" altLang="en-US" sz="2000" b="1" dirty="0"/>
          </a:p>
        </p:txBody>
      </p:sp>
      <p:sp>
        <p:nvSpPr>
          <p:cNvPr id="32" name="矩形 31"/>
          <p:cNvSpPr/>
          <p:nvPr/>
        </p:nvSpPr>
        <p:spPr>
          <a:xfrm>
            <a:off x="7596336" y="4047525"/>
            <a:ext cx="11208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 smtClean="0"/>
              <a:t>1111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746294" y="4456772"/>
                <a:ext cx="1656183" cy="535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( </m:t>
                    </m:r>
                    <m:f>
                      <m:f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 smtClean="0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000" b="1" dirty="0" smtClean="0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  1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2000" b="1" i="0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altLang="zh-CN" sz="2000" b="1" dirty="0" smtClean="0">
                  <a:solidFill>
                    <a:srgbClr val="FF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294" y="4456772"/>
                <a:ext cx="1656183" cy="535468"/>
              </a:xfrm>
              <a:prstGeom prst="rect">
                <a:avLst/>
              </a:prstGeom>
              <a:blipFill rotWithShape="0">
                <a:blip r:embed="rId5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左大括号 12"/>
          <p:cNvSpPr/>
          <p:nvPr/>
        </p:nvSpPr>
        <p:spPr>
          <a:xfrm>
            <a:off x="5076056" y="4126106"/>
            <a:ext cx="216024" cy="1196800"/>
          </a:xfrm>
          <a:prstGeom prst="leftBrace">
            <a:avLst/>
          </a:prstGeom>
          <a:ln>
            <a:solidFill>
              <a:srgbClr val="054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1491545" y="4149080"/>
            <a:ext cx="1205449" cy="597076"/>
          </a:xfrm>
          <a:prstGeom prst="rect">
            <a:avLst/>
          </a:prstGeom>
          <a:noFill/>
          <a:ln w="38100">
            <a:solidFill>
              <a:srgbClr val="0066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29209" y="2987877"/>
            <a:ext cx="8147216" cy="944140"/>
            <a:chOff x="529209" y="2987877"/>
            <a:chExt cx="8147216" cy="944140"/>
          </a:xfrm>
        </p:grpSpPr>
        <p:sp>
          <p:nvSpPr>
            <p:cNvPr id="18" name="矩形 17"/>
            <p:cNvSpPr/>
            <p:nvPr/>
          </p:nvSpPr>
          <p:spPr>
            <a:xfrm>
              <a:off x="1716835" y="3333211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856263" y="3333800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995691" y="3333211"/>
              <a:ext cx="887906" cy="5495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141469" y="3333211"/>
              <a:ext cx="887906" cy="5495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18" idx="3"/>
              <a:endCxn id="19" idx="1"/>
            </p:cNvCxnSpPr>
            <p:nvPr/>
          </p:nvCxnSpPr>
          <p:spPr>
            <a:xfrm>
              <a:off x="2604741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3750519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4889947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流程图: 决策 24"/>
            <p:cNvSpPr/>
            <p:nvPr/>
          </p:nvSpPr>
          <p:spPr>
            <a:xfrm>
              <a:off x="6265854" y="3283945"/>
              <a:ext cx="1224136" cy="648072"/>
            </a:xfrm>
            <a:prstGeom prst="flowChartDecision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6014332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图: 终止 29"/>
            <p:cNvSpPr/>
            <p:nvPr/>
          </p:nvSpPr>
          <p:spPr>
            <a:xfrm>
              <a:off x="7740321" y="3355953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/>
            <p:cNvCxnSpPr/>
            <p:nvPr/>
          </p:nvCxnSpPr>
          <p:spPr>
            <a:xfrm>
              <a:off x="7489990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流程图: 终止 33"/>
            <p:cNvSpPr/>
            <p:nvPr/>
          </p:nvSpPr>
          <p:spPr>
            <a:xfrm>
              <a:off x="529209" y="3355953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1460009" y="36211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557166" y="3481571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初始种群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10"/>
            <p:cNvSpPr>
              <a:spLocks noChangeArrowheads="1"/>
            </p:cNvSpPr>
            <p:nvPr/>
          </p:nvSpPr>
          <p:spPr bwMode="auto">
            <a:xfrm>
              <a:off x="1720803" y="3481571"/>
              <a:ext cx="493713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评价函数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863803" y="3478396"/>
              <a:ext cx="4953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选择算子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4002041" y="3476808"/>
              <a:ext cx="8271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概率模型</a:t>
              </a:r>
              <a:endPara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5352370" y="3476320"/>
              <a:ext cx="43601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采样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6448378" y="3468871"/>
              <a:ext cx="49530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终止条件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7"/>
            <p:cNvSpPr>
              <a:spLocks noChangeArrowheads="1"/>
            </p:cNvSpPr>
            <p:nvPr/>
          </p:nvSpPr>
          <p:spPr bwMode="auto">
            <a:xfrm>
              <a:off x="7773941" y="3481571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输出结果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3" name="肘形连接符 42"/>
            <p:cNvCxnSpPr>
              <a:stCxn id="25" idx="0"/>
              <a:endCxn id="18" idx="0"/>
            </p:cNvCxnSpPr>
            <p:nvPr/>
          </p:nvCxnSpPr>
          <p:spPr>
            <a:xfrm rot="16200000" flipH="1" flipV="1">
              <a:off x="4494722" y="950011"/>
              <a:ext cx="49266" cy="4717134"/>
            </a:xfrm>
            <a:prstGeom prst="bentConnector3">
              <a:avLst>
                <a:gd name="adj1" fmla="val -464012"/>
              </a:avLst>
            </a:prstGeom>
            <a:ln w="28575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6943678" y="2987877"/>
              <a:ext cx="31115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否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1"/>
            <p:cNvSpPr>
              <a:spLocks noChangeArrowheads="1"/>
            </p:cNvSpPr>
            <p:nvPr/>
          </p:nvSpPr>
          <p:spPr bwMode="auto">
            <a:xfrm>
              <a:off x="7427583" y="3261113"/>
              <a:ext cx="312738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5219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47"/>
    </mc:Choice>
    <mc:Fallback xmlns="">
      <p:transition spd="slow" advTm="252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1" grpId="0"/>
      <p:bldP spid="32" grpId="0"/>
      <p:bldP spid="12" grpId="0"/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/>
              <a:t>Pelikan</a:t>
            </a:r>
            <a:r>
              <a:rPr lang="en-US" altLang="zh-CN" sz="2000" dirty="0">
                <a:solidFill>
                  <a:prstClr val="black"/>
                </a:solidFill>
              </a:rPr>
              <a:t> 2002, </a:t>
            </a:r>
            <a:r>
              <a:rPr lang="en-US" altLang="zh-CN" sz="2000" dirty="0" err="1" smtClean="0">
                <a:solidFill>
                  <a:prstClr val="black"/>
                </a:solidFill>
              </a:rPr>
              <a:t>Hauschild</a:t>
            </a:r>
            <a:r>
              <a:rPr lang="en-US" altLang="zh-CN" sz="2000" dirty="0" smtClean="0">
                <a:solidFill>
                  <a:prstClr val="black"/>
                </a:solidFill>
              </a:rPr>
              <a:t> 2011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单变量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(Univariate EDA) </a:t>
            </a: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(Bivariate EDA)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多变量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(Multivariate EDA)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443" y="4285857"/>
            <a:ext cx="2273311" cy="190297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93647" y="4727455"/>
            <a:ext cx="2987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PBIL</a:t>
            </a: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 sz="2400" b="1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cGA</a:t>
            </a:r>
            <a:r>
              <a:rPr lang="zh-CN" altLang="en-US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UMDA</a:t>
            </a:r>
            <a:endParaRPr lang="zh-CN" altLang="en-US" sz="24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3464" y="4714763"/>
            <a:ext cx="348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MIMIC</a:t>
            </a:r>
            <a:r>
              <a:rPr lang="zh-CN" altLang="en-US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BMDA</a:t>
            </a:r>
            <a:endParaRPr lang="zh-CN" altLang="en-US" sz="24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5"/>
          <a:srcRect b="71413"/>
          <a:stretch/>
        </p:blipFill>
        <p:spPr>
          <a:xfrm>
            <a:off x="3693061" y="4273216"/>
            <a:ext cx="2273694" cy="202270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/>
          <a:srcRect t="66837" b="3568"/>
          <a:stretch/>
        </p:blipFill>
        <p:spPr>
          <a:xfrm>
            <a:off x="6178683" y="3996913"/>
            <a:ext cx="2379857" cy="21919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93464" y="4725529"/>
            <a:ext cx="348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ECGA</a:t>
            </a:r>
            <a:r>
              <a:rPr lang="zh-CN" altLang="en-US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 sz="2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BOA</a:t>
            </a:r>
            <a:endParaRPr lang="zh-CN" altLang="en-US" sz="24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754" y="3996913"/>
            <a:ext cx="2696513" cy="238441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896" y="4225229"/>
            <a:ext cx="2360240" cy="2024232"/>
          </a:xfrm>
          <a:prstGeom prst="rect">
            <a:avLst/>
          </a:prstGeom>
        </p:spPr>
      </p:pic>
      <p:sp>
        <p:nvSpPr>
          <p:cNvPr id="21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35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07"/>
    </mc:Choice>
    <mc:Fallback xmlns="">
      <p:transition spd="slow" advTm="272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类型的问题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组合优化问题和连续优化问题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单峰优化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问题和多峰优化问题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/>
              <a:t>Chuang 2010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目标优化问题和多目标优化问题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/>
              <a:t>Li 2012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1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  <p:pic>
        <p:nvPicPr>
          <p:cNvPr id="1026" name="Picture 2" descr="https://amitksaha.files.wordpress.com/2010/04/vince1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9" t="5159" b="8929"/>
          <a:stretch/>
        </p:blipFill>
        <p:spPr bwMode="auto">
          <a:xfrm>
            <a:off x="1763688" y="2371431"/>
            <a:ext cx="6696744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ages1.statlect.com/normal_distribution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8" b="9705"/>
          <a:stretch/>
        </p:blipFill>
        <p:spPr bwMode="auto">
          <a:xfrm>
            <a:off x="1725618" y="2048553"/>
            <a:ext cx="6701916" cy="435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099166"/>
            <a:ext cx="5787933" cy="4475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632" y="2278304"/>
            <a:ext cx="6578154" cy="43468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021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07"/>
    </mc:Choice>
    <mc:Fallback xmlns="">
      <p:transition spd="slow" advTm="272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复杂的概率模型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贝叶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斯网络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 smtClean="0"/>
              <a:t>Pelikan</a:t>
            </a:r>
            <a:r>
              <a:rPr lang="en-US" altLang="zh-CN" dirty="0" smtClean="0"/>
              <a:t> </a:t>
            </a:r>
            <a:r>
              <a:rPr lang="en-US" altLang="zh-CN" dirty="0"/>
              <a:t>2000][</a:t>
            </a:r>
            <a:r>
              <a:rPr lang="en-US" altLang="zh-CN" dirty="0" err="1"/>
              <a:t>Karshenas</a:t>
            </a:r>
            <a:r>
              <a:rPr lang="en-US" altLang="zh-CN" dirty="0"/>
              <a:t> 2014]</a:t>
            </a: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马尔科夫网络</a:t>
            </a:r>
            <a:r>
              <a:rPr lang="zh-CN" altLang="en-US" dirty="0" smtClean="0"/>
              <a:t>[</a:t>
            </a:r>
            <a:r>
              <a:rPr lang="en-US" altLang="zh-CN" dirty="0" smtClean="0"/>
              <a:t>Hossein 2012]</a:t>
            </a:r>
            <a:endParaRPr lang="en-US" altLang="zh-CN" dirty="0"/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层次模型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[Lee 2011]</a:t>
            </a: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1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69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07"/>
    </mc:Choice>
    <mc:Fallback xmlns="">
      <p:transition spd="slow" advTm="2720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平衡全局搜索与局部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 smtClean="0"/>
              <a:t>Črepinšek</a:t>
            </a:r>
            <a:r>
              <a:rPr lang="en-US" altLang="zh-CN" sz="2000" dirty="0" smtClean="0"/>
              <a:t> 2013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1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1024" y="3073744"/>
            <a:ext cx="5921952" cy="34748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370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07"/>
    </mc:Choice>
    <mc:Fallback xmlns="">
      <p:transition spd="slow" advTm="2720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研究现状分析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EEBC-7B6D-4E47-B0A2-C33232A84905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65397"/>
              </p:ext>
            </p:extLst>
          </p:nvPr>
        </p:nvGraphicFramePr>
        <p:xfrm>
          <a:off x="611560" y="2276872"/>
          <a:ext cx="7992888" cy="36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27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/>
                        <a:t>相关内容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/>
                        <a:t>优势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/>
                        <a:t>存在的不足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7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/>
                        <a:t>单变量分布估计算法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简单高效</a:t>
                      </a:r>
                      <a:endParaRPr lang="en-US" altLang="zh-CN" sz="24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无法检测利用变量关系、模型易于收敛</a:t>
                      </a:r>
                      <a:endParaRPr lang="en-US" altLang="zh-CN" sz="24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486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双变量、多变量分布估计算法</a:t>
                      </a:r>
                      <a:endParaRPr lang="en-US" altLang="zh-CN" sz="24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问题与模型匹配时性能突出</a:t>
                      </a:r>
                      <a:endParaRPr lang="en-US" altLang="zh-CN" sz="24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计算量大</a:t>
                      </a:r>
                      <a:endParaRPr lang="en-US" altLang="zh-CN" sz="2400" b="1" dirty="0" smtClean="0"/>
                    </a:p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/>
                        <a:t>泛化能力差</a:t>
                      </a:r>
                      <a:endParaRPr lang="en-US" altLang="zh-CN" sz="24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7745259"/>
      </p:ext>
    </p:extLst>
  </p:cSld>
  <p:clrMapOvr>
    <a:masterClrMapping/>
  </p:clrMapOvr>
  <p:transition advTm="22268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直接箭头连接符 53"/>
          <p:cNvCxnSpPr/>
          <p:nvPr/>
        </p:nvCxnSpPr>
        <p:spPr>
          <a:xfrm>
            <a:off x="2051720" y="2708920"/>
            <a:ext cx="0" cy="28065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57200" y="2132856"/>
            <a:ext cx="2016224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一般组合优化问题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47864" y="1700808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利用共轭先验分布提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出两层算法框架</a:t>
            </a:r>
          </a:p>
        </p:txBody>
      </p:sp>
      <p:sp>
        <p:nvSpPr>
          <p:cNvPr id="23" name="矩形 22"/>
          <p:cNvSpPr/>
          <p:nvPr/>
        </p:nvSpPr>
        <p:spPr>
          <a:xfrm>
            <a:off x="3347864" y="2564904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显式地控制全局搜索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和局部搜索</a:t>
            </a:r>
          </a:p>
        </p:txBody>
      </p:sp>
      <p:cxnSp>
        <p:nvCxnSpPr>
          <p:cNvPr id="11" name="直接箭头连接符 10"/>
          <p:cNvCxnSpPr>
            <a:stCxn id="5" idx="3"/>
            <a:endCxn id="22" idx="1"/>
          </p:cNvCxnSpPr>
          <p:nvPr/>
        </p:nvCxnSpPr>
        <p:spPr>
          <a:xfrm flipV="1">
            <a:off x="2473424" y="1988840"/>
            <a:ext cx="874440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23" idx="1"/>
          </p:cNvCxnSpPr>
          <p:nvPr/>
        </p:nvCxnSpPr>
        <p:spPr>
          <a:xfrm>
            <a:off x="2493640" y="2420888"/>
            <a:ext cx="854224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6300192" y="2132856"/>
            <a:ext cx="2376264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基于共轭先验的两层分布估计算法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THEDA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>
            <a:stCxn id="22" idx="3"/>
            <a:endCxn id="29" idx="1"/>
          </p:cNvCxnSpPr>
          <p:nvPr/>
        </p:nvCxnSpPr>
        <p:spPr>
          <a:xfrm>
            <a:off x="5652120" y="1988840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3" idx="3"/>
            <a:endCxn id="29" idx="1"/>
          </p:cNvCxnSpPr>
          <p:nvPr/>
        </p:nvCxnSpPr>
        <p:spPr>
          <a:xfrm flipV="1">
            <a:off x="5652120" y="2420888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57200" y="3841379"/>
            <a:ext cx="2016224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多峰组合优化问题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47864" y="3409331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量子演化算法框架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47864" y="4273427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利用信息熵学习链接，采用小生境技术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/>
          <p:cNvCxnSpPr>
            <a:stCxn id="35" idx="3"/>
            <a:endCxn id="37" idx="1"/>
          </p:cNvCxnSpPr>
          <p:nvPr/>
        </p:nvCxnSpPr>
        <p:spPr>
          <a:xfrm flipV="1">
            <a:off x="2473424" y="3697363"/>
            <a:ext cx="874440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38" idx="1"/>
          </p:cNvCxnSpPr>
          <p:nvPr/>
        </p:nvCxnSpPr>
        <p:spPr>
          <a:xfrm>
            <a:off x="2493640" y="4129411"/>
            <a:ext cx="854224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6300192" y="3841379"/>
            <a:ext cx="2376264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QEALL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箭头连接符 43"/>
          <p:cNvCxnSpPr>
            <a:stCxn id="37" idx="3"/>
            <a:endCxn id="43" idx="1"/>
          </p:cNvCxnSpPr>
          <p:nvPr/>
        </p:nvCxnSpPr>
        <p:spPr>
          <a:xfrm>
            <a:off x="5652120" y="3697363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8" idx="3"/>
            <a:endCxn id="43" idx="1"/>
          </p:cNvCxnSpPr>
          <p:nvPr/>
        </p:nvCxnSpPr>
        <p:spPr>
          <a:xfrm flipV="1">
            <a:off x="5652120" y="4129411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23528" y="5515426"/>
            <a:ext cx="2381334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多目标组合优化问题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352934" y="5083378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基于分解的多目标演化算法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352934" y="5947474"/>
            <a:ext cx="2304256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防止局部收敛，提高种群多样性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箭头连接符 48"/>
          <p:cNvCxnSpPr>
            <a:stCxn id="46" idx="3"/>
            <a:endCxn id="47" idx="1"/>
          </p:cNvCxnSpPr>
          <p:nvPr/>
        </p:nvCxnSpPr>
        <p:spPr>
          <a:xfrm flipV="1">
            <a:off x="2704862" y="5371410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6" idx="3"/>
            <a:endCxn id="48" idx="1"/>
          </p:cNvCxnSpPr>
          <p:nvPr/>
        </p:nvCxnSpPr>
        <p:spPr>
          <a:xfrm>
            <a:off x="2704862" y="5803458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6305262" y="5515426"/>
            <a:ext cx="2515210" cy="57606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规模自适应的多目标分布估计算法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s-MEDAD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/>
          <p:cNvCxnSpPr>
            <a:stCxn id="47" idx="3"/>
            <a:endCxn id="51" idx="1"/>
          </p:cNvCxnSpPr>
          <p:nvPr/>
        </p:nvCxnSpPr>
        <p:spPr>
          <a:xfrm>
            <a:off x="5657190" y="5371410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48" idx="3"/>
            <a:endCxn id="51" idx="1"/>
          </p:cNvCxnSpPr>
          <p:nvPr/>
        </p:nvCxnSpPr>
        <p:spPr>
          <a:xfrm flipV="1">
            <a:off x="5657190" y="5803458"/>
            <a:ext cx="648072" cy="432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899592" y="2708920"/>
            <a:ext cx="0" cy="1132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研究路线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2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90"/>
    </mc:Choice>
    <mc:Fallback xmlns="">
      <p:transition spd="slow" advTm="49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9" grpId="0" animBg="1"/>
      <p:bldP spid="35" grpId="0" animBg="1"/>
      <p:bldP spid="37" grpId="0" animBg="1"/>
      <p:bldP spid="38" grpId="0" animBg="1"/>
      <p:bldP spid="43" grpId="0" animBg="1"/>
      <p:bldP spid="46" grpId="0" animBg="1"/>
      <p:bldP spid="47" grpId="0" animBg="1"/>
      <p:bldP spid="48" grpId="0" animBg="1"/>
      <p:bldP spid="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二、基于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共轭先验的单模分布估计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THEDA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单变量边缘分布估计算法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两层算法框架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三、基于信息熵的多模分布估计算法（</a:t>
            </a:r>
            <a:r>
              <a:rPr lang="en-US" altLang="zh-CN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QEALL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s-MEDAD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379552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单变量边缘分布估计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038689" y="3731092"/>
                <a:ext cx="2202526" cy="1138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3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689" y="3731092"/>
                <a:ext cx="2202526" cy="11380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553268" y="4813244"/>
                <a:ext cx="6328656" cy="1368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l-GR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l-GR" altLang="zh-CN" sz="3600" i="1" smtClean="0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l-GR" altLang="zh-CN" sz="36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68" y="4813244"/>
                <a:ext cx="6328656" cy="13688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539584" y="2429680"/>
            <a:ext cx="8147216" cy="944140"/>
            <a:chOff x="529209" y="2987877"/>
            <a:chExt cx="8147216" cy="944140"/>
          </a:xfrm>
        </p:grpSpPr>
        <p:sp>
          <p:nvSpPr>
            <p:cNvPr id="9" name="矩形 8"/>
            <p:cNvSpPr/>
            <p:nvPr/>
          </p:nvSpPr>
          <p:spPr>
            <a:xfrm>
              <a:off x="1716835" y="3333211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56263" y="3333800"/>
              <a:ext cx="887906" cy="549540"/>
            </a:xfrm>
            <a:prstGeom prst="rect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95691" y="3333211"/>
              <a:ext cx="887906" cy="5495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141469" y="3333211"/>
              <a:ext cx="887906" cy="5495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9" idx="3"/>
              <a:endCxn id="10" idx="1"/>
            </p:cNvCxnSpPr>
            <p:nvPr/>
          </p:nvCxnSpPr>
          <p:spPr>
            <a:xfrm>
              <a:off x="2604741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3750519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4889947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流程图: 决策 15"/>
            <p:cNvSpPr/>
            <p:nvPr/>
          </p:nvSpPr>
          <p:spPr>
            <a:xfrm>
              <a:off x="6265854" y="3283945"/>
              <a:ext cx="1224136" cy="648072"/>
            </a:xfrm>
            <a:prstGeom prst="flowChartDecision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6014332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流程图: 终止 17"/>
            <p:cNvSpPr/>
            <p:nvPr/>
          </p:nvSpPr>
          <p:spPr>
            <a:xfrm>
              <a:off x="7740321" y="3355953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7489990" y="36079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流程图: 终止 19"/>
            <p:cNvSpPr/>
            <p:nvPr/>
          </p:nvSpPr>
          <p:spPr>
            <a:xfrm>
              <a:off x="529209" y="3355953"/>
              <a:ext cx="936104" cy="504056"/>
            </a:xfrm>
            <a:prstGeom prst="flowChartTerminator">
              <a:avLst/>
            </a:prstGeom>
            <a:noFill/>
            <a:ln>
              <a:solidFill>
                <a:srgbClr val="054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1460009" y="3621181"/>
              <a:ext cx="251522" cy="589"/>
            </a:xfrm>
            <a:prstGeom prst="straightConnector1">
              <a:avLst/>
            </a:prstGeom>
            <a:ln w="38100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557166" y="3481571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初始种群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1720803" y="3481571"/>
              <a:ext cx="493713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评价函数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2863803" y="3478396"/>
              <a:ext cx="495300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选择算子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4002041" y="3476808"/>
              <a:ext cx="82715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概率模型</a:t>
              </a:r>
              <a:endPara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5352370" y="3476320"/>
              <a:ext cx="43601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采样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6448378" y="3468871"/>
              <a:ext cx="49530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终止条件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7773941" y="3481571"/>
              <a:ext cx="49371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输出结果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0" name="肘形连接符 29"/>
            <p:cNvCxnSpPr>
              <a:stCxn id="16" idx="0"/>
              <a:endCxn id="9" idx="0"/>
            </p:cNvCxnSpPr>
            <p:nvPr/>
          </p:nvCxnSpPr>
          <p:spPr>
            <a:xfrm rot="16200000" flipH="1" flipV="1">
              <a:off x="4494722" y="950011"/>
              <a:ext cx="49266" cy="4717134"/>
            </a:xfrm>
            <a:prstGeom prst="bentConnector3">
              <a:avLst>
                <a:gd name="adj1" fmla="val -464012"/>
              </a:avLst>
            </a:prstGeom>
            <a:ln w="28575">
              <a:solidFill>
                <a:srgbClr val="054CE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943678" y="2987877"/>
              <a:ext cx="311150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否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7427583" y="3261113"/>
              <a:ext cx="312738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6700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分布与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二项分布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Koch 2007]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50" name="Picture 2" descr="Probability density function for the Beta distribu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868" y="2197458"/>
            <a:ext cx="5424264" cy="434145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04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分布与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二项分布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[Koch 2007]</a:t>
            </a: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07173" y="2420888"/>
                <a:ext cx="7538987" cy="12264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l-GR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CN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173" y="2420888"/>
                <a:ext cx="7538987" cy="12264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107173" y="3755777"/>
                <a:ext cx="5707012" cy="1041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sSup>
                        <m:sSup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l-GR" altLang="zh-CN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173" y="3755777"/>
                <a:ext cx="5707012" cy="10413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92965" y="5014917"/>
                <a:ext cx="701121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CN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l-GR" altLang="zh-CN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65" y="5014917"/>
                <a:ext cx="7011215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5069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182698" y="2342361"/>
            <a:ext cx="0" cy="312873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170464" y="5471096"/>
            <a:ext cx="4654992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182698" y="3890683"/>
            <a:ext cx="4222697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779419" y="5539357"/>
            <a:ext cx="80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0</a:t>
            </a:r>
            <a:endParaRPr lang="zh-CN" altLang="en-US" sz="32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151066" y="5549086"/>
            <a:ext cx="80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endParaRPr lang="zh-CN" altLang="en-US" sz="3200" b="1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6403950" y="5298248"/>
            <a:ext cx="0" cy="1728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449507" y="3890683"/>
            <a:ext cx="0" cy="156436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619672" y="2060848"/>
            <a:ext cx="422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i="1" dirty="0" smtClean="0"/>
              <a:t>p</a:t>
            </a:r>
            <a:endParaRPr lang="zh-CN" altLang="en-US" sz="3600" b="1" i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837690" y="5147235"/>
            <a:ext cx="422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i="1" dirty="0"/>
              <a:t>x</a:t>
            </a:r>
            <a:endParaRPr lang="zh-CN" altLang="en-US" sz="3600" b="1" i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3233483" y="3351416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？</a:t>
            </a:r>
            <a:endParaRPr lang="zh-CN" altLang="en-US" sz="2800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4427984" y="3890683"/>
            <a:ext cx="0" cy="156436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211960" y="3351416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？</a:t>
            </a:r>
            <a:endParaRPr lang="zh-CN" altLang="en-US" sz="2800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6405395" y="3890683"/>
            <a:ext cx="0" cy="156436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189371" y="3351416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？</a:t>
            </a:r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19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4" grpId="0"/>
      <p:bldP spid="24" grpId="1"/>
      <p:bldP spid="26" grpId="0"/>
      <p:bldP spid="2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182698" y="2342361"/>
            <a:ext cx="0" cy="312873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170464" y="5471096"/>
            <a:ext cx="4654992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182698" y="3890683"/>
            <a:ext cx="4222697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779419" y="5539357"/>
            <a:ext cx="80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0</a:t>
            </a:r>
            <a:endParaRPr lang="zh-CN" altLang="en-US" sz="32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151066" y="5549086"/>
            <a:ext cx="80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endParaRPr lang="zh-CN" altLang="en-US" sz="3200" b="1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6403950" y="5298248"/>
            <a:ext cx="0" cy="1728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182698" y="3890683"/>
            <a:ext cx="422125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619672" y="2060848"/>
            <a:ext cx="422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i="1" dirty="0" smtClean="0"/>
              <a:t>p</a:t>
            </a:r>
            <a:endParaRPr lang="zh-CN" altLang="en-US" sz="3600" b="1" i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837690" y="5147235"/>
            <a:ext cx="422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i="1" dirty="0"/>
              <a:t>x</a:t>
            </a:r>
            <a:endParaRPr lang="zh-CN" altLang="en-US" sz="3600" b="1" i="1" dirty="0"/>
          </a:p>
        </p:txBody>
      </p:sp>
      <p:sp>
        <p:nvSpPr>
          <p:cNvPr id="7" name="任意多边形 6"/>
          <p:cNvSpPr/>
          <p:nvPr/>
        </p:nvSpPr>
        <p:spPr>
          <a:xfrm>
            <a:off x="2184400" y="2667196"/>
            <a:ext cx="4229100" cy="2793804"/>
          </a:xfrm>
          <a:custGeom>
            <a:avLst/>
            <a:gdLst>
              <a:gd name="connsiteX0" fmla="*/ 0 w 4229100"/>
              <a:gd name="connsiteY0" fmla="*/ 1412334 h 1412334"/>
              <a:gd name="connsiteX1" fmla="*/ 685800 w 4229100"/>
              <a:gd name="connsiteY1" fmla="*/ 2634 h 1412334"/>
              <a:gd name="connsiteX2" fmla="*/ 1676400 w 4229100"/>
              <a:gd name="connsiteY2" fmla="*/ 1069434 h 1412334"/>
              <a:gd name="connsiteX3" fmla="*/ 4229100 w 4229100"/>
              <a:gd name="connsiteY3" fmla="*/ 1412334 h 141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9100" h="1412334">
                <a:moveTo>
                  <a:pt x="0" y="1412334"/>
                </a:moveTo>
                <a:cubicBezTo>
                  <a:pt x="203200" y="736059"/>
                  <a:pt x="406400" y="59784"/>
                  <a:pt x="685800" y="2634"/>
                </a:cubicBezTo>
                <a:cubicBezTo>
                  <a:pt x="965200" y="-54516"/>
                  <a:pt x="1085850" y="834484"/>
                  <a:pt x="1676400" y="1069434"/>
                </a:cubicBezTo>
                <a:cubicBezTo>
                  <a:pt x="2266950" y="1304384"/>
                  <a:pt x="3248025" y="1358359"/>
                  <a:pt x="4229100" y="1412334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2184399" y="1892880"/>
            <a:ext cx="4210001" cy="3568120"/>
          </a:xfrm>
          <a:custGeom>
            <a:avLst/>
            <a:gdLst>
              <a:gd name="connsiteX0" fmla="*/ 0 w 4076700"/>
              <a:gd name="connsiteY0" fmla="*/ 3568120 h 3568120"/>
              <a:gd name="connsiteX1" fmla="*/ 1308100 w 4076700"/>
              <a:gd name="connsiteY1" fmla="*/ 3110920 h 3568120"/>
              <a:gd name="connsiteX2" fmla="*/ 2425700 w 4076700"/>
              <a:gd name="connsiteY2" fmla="*/ 1752020 h 3568120"/>
              <a:gd name="connsiteX3" fmla="*/ 3187700 w 4076700"/>
              <a:gd name="connsiteY3" fmla="*/ 189920 h 3568120"/>
              <a:gd name="connsiteX4" fmla="*/ 3492500 w 4076700"/>
              <a:gd name="connsiteY4" fmla="*/ 62920 h 3568120"/>
              <a:gd name="connsiteX5" fmla="*/ 3657600 w 4076700"/>
              <a:gd name="connsiteY5" fmla="*/ 520120 h 3568120"/>
              <a:gd name="connsiteX6" fmla="*/ 3835400 w 4076700"/>
              <a:gd name="connsiteY6" fmla="*/ 1485320 h 3568120"/>
              <a:gd name="connsiteX7" fmla="*/ 4076700 w 4076700"/>
              <a:gd name="connsiteY7" fmla="*/ 3530020 h 356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6700" h="3568120">
                <a:moveTo>
                  <a:pt x="0" y="3568120"/>
                </a:moveTo>
                <a:cubicBezTo>
                  <a:pt x="451908" y="3490861"/>
                  <a:pt x="903817" y="3413603"/>
                  <a:pt x="1308100" y="3110920"/>
                </a:cubicBezTo>
                <a:cubicBezTo>
                  <a:pt x="1712383" y="2808237"/>
                  <a:pt x="2112433" y="2238853"/>
                  <a:pt x="2425700" y="1752020"/>
                </a:cubicBezTo>
                <a:cubicBezTo>
                  <a:pt x="2738967" y="1265187"/>
                  <a:pt x="3009900" y="471437"/>
                  <a:pt x="3187700" y="189920"/>
                </a:cubicBezTo>
                <a:cubicBezTo>
                  <a:pt x="3365500" y="-91597"/>
                  <a:pt x="3414183" y="7887"/>
                  <a:pt x="3492500" y="62920"/>
                </a:cubicBezTo>
                <a:cubicBezTo>
                  <a:pt x="3570817" y="117953"/>
                  <a:pt x="3600450" y="283053"/>
                  <a:pt x="3657600" y="520120"/>
                </a:cubicBezTo>
                <a:cubicBezTo>
                  <a:pt x="3714750" y="757187"/>
                  <a:pt x="3765550" y="983670"/>
                  <a:pt x="3835400" y="1485320"/>
                </a:cubicBezTo>
                <a:cubicBezTo>
                  <a:pt x="3905250" y="1986970"/>
                  <a:pt x="4008967" y="3331053"/>
                  <a:pt x="4076700" y="353002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364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2420888"/>
            <a:ext cx="6309178" cy="1622117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两层算法框架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75656" y="4023315"/>
            <a:ext cx="6309178" cy="19284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809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测试问题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背包问题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Martello 1990]</a:t>
                </a:r>
              </a:p>
              <a:p>
                <a:pPr marL="457200" lvl="1" indent="0">
                  <a:buNone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        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max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     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=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sub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ject</m:t>
                                  </m:r>
                                  <m:r>
                                    <a:rPr lang="en-US" altLang="zh-CN" b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b="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to</m:t>
                                  </m:r>
                                </m:e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en-US" altLang="zh-CN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457200" lvl="1" indent="0">
                  <a:buNone/>
                </a:pPr>
                <a:endParaRPr lang="en-US" altLang="zh-CN" sz="12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1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NK-landscapes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sz="2000" dirty="0" smtClean="0"/>
                  <a:t>Kauffman 87, 89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</a:t>
                </a:r>
                <a:r>
                  <a:rPr lang="en-US" altLang="zh-CN" sz="2000" dirty="0" smtClean="0"/>
                  <a:t>Weinberger 1996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</a:p>
              <a:p>
                <a:pPr lvl="1"/>
                <a:endPara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𝐾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4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7259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6" name="Picture 2" descr="http://www.epsconverter.com/temp/2c935918ae7c4e5ca6cafbb5792ee8a7.ep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65" y="2359946"/>
            <a:ext cx="5174629" cy="378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7020272" y="3478460"/>
            <a:ext cx="20120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knp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_2000_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993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7" y="2276872"/>
            <a:ext cx="4904743" cy="3849291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20272" y="3478460"/>
            <a:ext cx="18261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knp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_500_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35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34346"/>
            <a:ext cx="4958928" cy="38918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020272" y="3478460"/>
            <a:ext cx="19543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knp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_1000_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677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76872"/>
            <a:ext cx="4896544" cy="374988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20272" y="3478460"/>
            <a:ext cx="19543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knp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_2000_</a:t>
            </a:r>
            <a:r>
              <a:rPr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83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基于共轭先验的单模分布估计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实验结果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设定为 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256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512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1024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2048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4096</a:t>
                </a:r>
              </a:p>
              <a:p>
                <a:pPr lvl="1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的所有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整数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个测试实例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en-US" altLang="zh-CN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39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个实例，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THEDA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算法显著优于其它算法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endPara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  <a:blipFill rotWithShape="0">
                <a:blip r:embed="rId4"/>
                <a:stretch>
                  <a:fillRect l="-166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14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二、基于共轭先验的单模分布估计算法（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THEDA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三、基于信息熵的多模分布估计算法（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QEALL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QEALL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s-MEDAD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753738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76243"/>
            <a:ext cx="2133600" cy="365125"/>
          </a:xfrm>
        </p:spPr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435280" cy="190080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Zhang 2011][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 2002</a:t>
            </a:r>
            <a:r>
              <a:rPr lang="en-US" altLang="zh-CN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借鉴量子计算概念的经典演化算法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多模型分布估计算法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691680" y="3174009"/>
            <a:ext cx="5544616" cy="3529235"/>
            <a:chOff x="1763688" y="3160018"/>
            <a:chExt cx="5544616" cy="3529235"/>
          </a:xfrm>
        </p:grpSpPr>
        <p:sp>
          <p:nvSpPr>
            <p:cNvPr id="24" name="圆角矩形 23"/>
            <p:cNvSpPr/>
            <p:nvPr/>
          </p:nvSpPr>
          <p:spPr>
            <a:xfrm>
              <a:off x="1763688" y="5000202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chemeClr val="tx1"/>
                  </a:solidFill>
                </a:rPr>
                <a:t>计算单元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3070176" y="5000202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>
                  <a:solidFill>
                    <a:schemeClr val="tx1"/>
                  </a:solidFill>
                </a:rPr>
                <a:t>计算单元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5074252" y="4995097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计算单元</a:t>
              </a: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6372200" y="4995096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计算单元</a:t>
              </a:r>
            </a:p>
          </p:txBody>
        </p:sp>
        <p:cxnSp>
          <p:nvCxnSpPr>
            <p:cNvPr id="29" name="曲线连接符 28"/>
            <p:cNvCxnSpPr>
              <a:stCxn id="24" idx="0"/>
              <a:endCxn id="25" idx="0"/>
            </p:cNvCxnSpPr>
            <p:nvPr/>
          </p:nvCxnSpPr>
          <p:spPr>
            <a:xfrm rot="5400000" flipH="1" flipV="1">
              <a:off x="2884984" y="4346958"/>
              <a:ext cx="12700" cy="1306488"/>
            </a:xfrm>
            <a:prstGeom prst="curvedConnector3">
              <a:avLst>
                <a:gd name="adj1" fmla="val 3240000"/>
              </a:avLst>
            </a:prstGeom>
            <a:ln w="57150">
              <a:solidFill>
                <a:srgbClr val="1B56C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曲线连接符 37"/>
            <p:cNvCxnSpPr/>
            <p:nvPr/>
          </p:nvCxnSpPr>
          <p:spPr>
            <a:xfrm rot="5400000" flipH="1" flipV="1">
              <a:off x="6184928" y="4334258"/>
              <a:ext cx="12700" cy="1306488"/>
            </a:xfrm>
            <a:prstGeom prst="curvedConnector3">
              <a:avLst>
                <a:gd name="adj1" fmla="val 3240000"/>
              </a:avLst>
            </a:prstGeom>
            <a:ln w="57150">
              <a:solidFill>
                <a:srgbClr val="1B56C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4082608" y="5331789"/>
                  <a:ext cx="915315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66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608" y="5331789"/>
                  <a:ext cx="915315" cy="101566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箭头连接符 45"/>
            <p:cNvCxnSpPr/>
            <p:nvPr/>
          </p:nvCxnSpPr>
          <p:spPr>
            <a:xfrm flipH="1">
              <a:off x="2238090" y="3707983"/>
              <a:ext cx="2333910" cy="125327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endCxn id="25" idx="0"/>
            </p:cNvCxnSpPr>
            <p:nvPr/>
          </p:nvCxnSpPr>
          <p:spPr>
            <a:xfrm flipH="1">
              <a:off x="3538228" y="3727876"/>
              <a:ext cx="1033772" cy="127232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endCxn id="26" idx="0"/>
            </p:cNvCxnSpPr>
            <p:nvPr/>
          </p:nvCxnSpPr>
          <p:spPr>
            <a:xfrm>
              <a:off x="4572000" y="3727876"/>
              <a:ext cx="970304" cy="1267221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4572000" y="3707983"/>
              <a:ext cx="2272522" cy="125327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/>
            <p:cNvSpPr/>
            <p:nvPr/>
          </p:nvSpPr>
          <p:spPr>
            <a:xfrm>
              <a:off x="3778982" y="3160018"/>
              <a:ext cx="1522565" cy="54796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 smtClean="0">
                  <a:solidFill>
                    <a:schemeClr val="tx1"/>
                  </a:solidFill>
                </a:rPr>
                <a:t>Best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5871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62"/>
    </mc:Choice>
    <mc:Fallback xmlns="">
      <p:transition spd="slow" advTm="21362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57200" y="1600200"/>
            <a:ext cx="8435280" cy="434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量子演化算法存在的问题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不能学习并利用变量之间的关系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全局和局部迁移使算法无法保持多个最优结果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91680" y="3174009"/>
            <a:ext cx="5544616" cy="3529235"/>
            <a:chOff x="1763688" y="3160018"/>
            <a:chExt cx="5544616" cy="3529235"/>
          </a:xfrm>
        </p:grpSpPr>
        <p:sp>
          <p:nvSpPr>
            <p:cNvPr id="10" name="圆角矩形 9"/>
            <p:cNvSpPr/>
            <p:nvPr/>
          </p:nvSpPr>
          <p:spPr>
            <a:xfrm>
              <a:off x="1763688" y="5000202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 smtClean="0">
                  <a:solidFill>
                    <a:schemeClr val="tx1"/>
                  </a:solidFill>
                </a:rPr>
                <a:t>计算单元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3070176" y="5000202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>
                  <a:solidFill>
                    <a:schemeClr val="tx1"/>
                  </a:solidFill>
                </a:rPr>
                <a:t>计算单元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5074252" y="4995097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计算单元</a:t>
              </a: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6372200" y="4995096"/>
              <a:ext cx="936104" cy="168905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计算单元</a:t>
              </a:r>
            </a:p>
          </p:txBody>
        </p:sp>
        <p:cxnSp>
          <p:nvCxnSpPr>
            <p:cNvPr id="14" name="曲线连接符 13"/>
            <p:cNvCxnSpPr>
              <a:stCxn id="10" idx="0"/>
              <a:endCxn id="11" idx="0"/>
            </p:cNvCxnSpPr>
            <p:nvPr/>
          </p:nvCxnSpPr>
          <p:spPr>
            <a:xfrm rot="5400000" flipH="1" flipV="1">
              <a:off x="2884984" y="4346958"/>
              <a:ext cx="12700" cy="1306488"/>
            </a:xfrm>
            <a:prstGeom prst="curvedConnector3">
              <a:avLst>
                <a:gd name="adj1" fmla="val 3240000"/>
              </a:avLst>
            </a:prstGeom>
            <a:ln w="57150">
              <a:solidFill>
                <a:srgbClr val="1B56C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曲线连接符 14"/>
            <p:cNvCxnSpPr/>
            <p:nvPr/>
          </p:nvCxnSpPr>
          <p:spPr>
            <a:xfrm rot="5400000" flipH="1" flipV="1">
              <a:off x="6184928" y="4334258"/>
              <a:ext cx="12700" cy="1306488"/>
            </a:xfrm>
            <a:prstGeom prst="curvedConnector3">
              <a:avLst>
                <a:gd name="adj1" fmla="val 3240000"/>
              </a:avLst>
            </a:prstGeom>
            <a:ln w="57150">
              <a:solidFill>
                <a:srgbClr val="1B56C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4082608" y="5331789"/>
                  <a:ext cx="915315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66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608" y="5331789"/>
                  <a:ext cx="915315" cy="101566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/>
            <p:cNvCxnSpPr/>
            <p:nvPr/>
          </p:nvCxnSpPr>
          <p:spPr>
            <a:xfrm flipH="1">
              <a:off x="2238090" y="3707983"/>
              <a:ext cx="2333910" cy="125327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endCxn id="11" idx="0"/>
            </p:cNvCxnSpPr>
            <p:nvPr/>
          </p:nvCxnSpPr>
          <p:spPr>
            <a:xfrm flipH="1">
              <a:off x="3538228" y="3727876"/>
              <a:ext cx="1033772" cy="127232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12" idx="0"/>
            </p:cNvCxnSpPr>
            <p:nvPr/>
          </p:nvCxnSpPr>
          <p:spPr>
            <a:xfrm>
              <a:off x="4572000" y="3727876"/>
              <a:ext cx="970304" cy="1267221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4572000" y="3707983"/>
              <a:ext cx="2272522" cy="1253276"/>
            </a:xfrm>
            <a:prstGeom prst="straightConnector1">
              <a:avLst/>
            </a:prstGeom>
            <a:ln w="57150">
              <a:solidFill>
                <a:srgbClr val="1B56C7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3778982" y="3160018"/>
              <a:ext cx="1522565" cy="54796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 smtClean="0">
                  <a:solidFill>
                    <a:schemeClr val="tx1"/>
                  </a:solidFill>
                </a:rPr>
                <a:t>Best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86"/>
    </mc:Choice>
    <mc:Fallback xmlns="">
      <p:transition spd="slow" advTm="19586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思路：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移除局部和全局迁移过程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引入概念引导算子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 smtClean="0"/>
              <a:t>Emmendorfer</a:t>
            </a:r>
            <a:r>
              <a:rPr lang="en-US" altLang="zh-CN" sz="2000" dirty="0" smtClean="0"/>
              <a:t> 2007, 2008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25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小生境技术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 smtClean="0"/>
              <a:t>Shir</a:t>
            </a:r>
            <a:r>
              <a:rPr lang="en-US" altLang="zh-CN" sz="2000" dirty="0" smtClean="0"/>
              <a:t> 2012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优势：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高效学习变量关系，处理多峰问题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04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77"/>
    </mc:Choice>
    <mc:Fallback xmlns="">
      <p:transition spd="slow" advTm="20477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算法框架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574848"/>
            <a:ext cx="4588078" cy="514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3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77"/>
    </mc:Choice>
    <mc:Fallback xmlns="">
      <p:transition spd="slow" advTm="20477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概念引导组合算子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个变量的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信息熵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去除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个模型后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的信息熵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40488" y="3068960"/>
                <a:ext cx="7156446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func>
                        <m:func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400" i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88" y="3068960"/>
                <a:ext cx="7156446" cy="5558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109280" y="4685268"/>
                <a:ext cx="7131119" cy="6283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func>
                        <m:func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Sup>
                            <m:sSub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  <m:func>
                            <m:func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400" i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280" y="4685268"/>
                <a:ext cx="7131119" cy="6283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04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77"/>
    </mc:Choice>
    <mc:Fallback xmlns="">
      <p:transition spd="slow" advTm="20477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概念引导组合算子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对第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个变量的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信息贡献为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lvl="1" indent="0">
                  <a:buNone/>
                </a:pPr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804248" y="2348880"/>
                <a:ext cx="2160463" cy="531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</m:oMath>
                  </m:oMathPara>
                </a14:m>
                <a:endParaRPr lang="zh-CN" altLang="en-US" sz="1050" i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348880"/>
                <a:ext cx="2160463" cy="53117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725" y="3212976"/>
            <a:ext cx="3638550" cy="933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725" y="4454058"/>
            <a:ext cx="3638550" cy="942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725" y="5659438"/>
            <a:ext cx="36385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2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77"/>
    </mc:Choice>
    <mc:Fallback xmlns="">
      <p:transition spd="slow" advTm="20477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560040" y="1113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混合生成方式和小生境技术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0" y="2852936"/>
            <a:ext cx="7780759" cy="257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6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77"/>
    </mc:Choice>
    <mc:Fallback xmlns="">
      <p:transition spd="slow" advTm="20477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440" y="2324764"/>
            <a:ext cx="5287119" cy="403158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525747" y="3478460"/>
            <a:ext cx="121219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trap90</a:t>
            </a:r>
            <a:endParaRPr lang="zh-CN" altLang="en-US" sz="2800" b="1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18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288" y="2328564"/>
            <a:ext cx="5291271" cy="408987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525747" y="3478460"/>
            <a:ext cx="14253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i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o-trap90</a:t>
            </a:r>
            <a:endParaRPr lang="zh-CN" altLang="en-US" sz="2800" b="1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144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44" y="2492896"/>
            <a:ext cx="3992087" cy="3048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2492896"/>
            <a:ext cx="3977930" cy="30483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42900" y="5665318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</a:t>
            </a:r>
            <a:endParaRPr lang="zh-CN" altLang="en-US" sz="32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156176" y="566531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QEALL</a:t>
            </a:r>
            <a:endParaRPr lang="zh-CN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01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44" y="2492896"/>
            <a:ext cx="3992087" cy="3048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2492896"/>
            <a:ext cx="3977930" cy="30483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44" y="2492896"/>
            <a:ext cx="3992087" cy="304830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024" y="2492896"/>
            <a:ext cx="3977930" cy="30483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042900" y="5665318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</a:t>
            </a:r>
            <a:endParaRPr lang="zh-CN" altLang="en-US" sz="32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156176" y="566531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QEALL</a:t>
            </a:r>
            <a:endParaRPr lang="zh-CN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2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44" y="2492896"/>
            <a:ext cx="3992087" cy="3048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2492896"/>
            <a:ext cx="3977930" cy="3048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24" y="2492896"/>
            <a:ext cx="3992707" cy="30596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024" y="2492896"/>
            <a:ext cx="3977930" cy="3048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42900" y="5665318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</a:t>
            </a:r>
            <a:endParaRPr lang="zh-CN" altLang="en-US" sz="32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156176" y="566531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QEALL</a:t>
            </a:r>
            <a:endParaRPr lang="zh-CN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529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160" y="2401970"/>
            <a:ext cx="5155679" cy="3724193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187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带有链接学习的量子演化算法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164541"/>
                  </p:ext>
                </p:extLst>
              </p:nvPr>
            </p:nvGraphicFramePr>
            <p:xfrm>
              <a:off x="899592" y="2420887"/>
              <a:ext cx="7344816" cy="370326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8362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362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362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362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/>
                            <a:t>问题实例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UEBNA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φ-</a:t>
                          </a:r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PBIL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QEALL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Grid16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51400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2366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10126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606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4578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934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Grid36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85600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8462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28963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10754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16048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3998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Grid64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124900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3479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64245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10999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42655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5714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Ring28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54700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949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12694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853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9804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2486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Ring42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75700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3302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32361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1513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36925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5107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Cat28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57100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2846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14311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1299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6370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1683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Cat42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73900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1449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29714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3644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14856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5482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Cat56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96400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2366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46151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4362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33425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0" i="1" u="none" strike="noStrike" kern="1200" baseline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zh-CN" sz="1800" b="1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12564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164541"/>
                  </p:ext>
                </p:extLst>
              </p:nvPr>
            </p:nvGraphicFramePr>
            <p:xfrm>
              <a:off x="899592" y="2420887"/>
              <a:ext cx="7344816" cy="370326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836204"/>
                    <a:gridCol w="1836204"/>
                    <a:gridCol w="1836204"/>
                    <a:gridCol w="1836204"/>
                  </a:tblGrid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/>
                            <a:t>问题实例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UEBNA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φ-</a:t>
                          </a:r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PBIL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i="0" u="none" strike="noStrike" kern="1200" baseline="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QEALL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Grid16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108955" r="-201661" b="-7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108955" r="-100993" b="-7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108955" r="-1329" b="-723881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Grid36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205882" r="-201661" b="-6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205882" r="-100993" b="-6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205882" r="-1329" b="-613235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Grid64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310448" r="-201661" b="-5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310448" r="-100993" b="-5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310448" r="-1329" b="-522388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Ring28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404412" r="-201661" b="-4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404412" r="-100993" b="-4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404412" r="-1329" b="-414706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Ring42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511940" r="-201661" b="-3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511940" r="-100993" b="-3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511940" r="-1329" b="-320896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Cat28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602941" r="-201661" b="-2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602941" r="-100993" b="-2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602941" r="-1329" b="-216176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Cat42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713433" r="-201661" b="-1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713433" r="-100993" b="-1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713433" r="-1329" b="-119403"/>
                          </a:stretch>
                        </a:blipFill>
                      </a:tcPr>
                    </a:tc>
                  </a:tr>
                  <a:tr h="411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Cat56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664" t="-801471" r="-201661" b="-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801471" r="-100993" b="-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0997" t="-801471" r="-1329" b="-1764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矩形 2"/>
          <p:cNvSpPr/>
          <p:nvPr/>
        </p:nvSpPr>
        <p:spPr>
          <a:xfrm>
            <a:off x="6444208" y="2316013"/>
            <a:ext cx="1728192" cy="3849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242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二、基于共轭先验的单模分布估计算法（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THEDA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三、基于信息熵的多模分布估计算法（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QEALL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s-MEDAD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多目标演化算法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规模自适应生成算子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896767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MOEA —— MOEA/D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smtClean="0"/>
              <a:t>Zhang 2012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-2637169" y="2622978"/>
            <a:ext cx="7096788" cy="5606893"/>
            <a:chOff x="-756592" y="2420889"/>
            <a:chExt cx="7096788" cy="5606893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2955820" y="5733257"/>
              <a:ext cx="33843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2955820" y="2420889"/>
              <a:ext cx="0" cy="33123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弧形 13"/>
            <p:cNvSpPr/>
            <p:nvPr/>
          </p:nvSpPr>
          <p:spPr>
            <a:xfrm>
              <a:off x="-756592" y="2780928"/>
              <a:ext cx="6448716" cy="5246854"/>
            </a:xfrm>
            <a:prstGeom prst="arc">
              <a:avLst>
                <a:gd name="adj1" fmla="val 17748903"/>
                <a:gd name="adj2" fmla="val 21409154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V="1">
              <a:off x="2959338" y="2564905"/>
              <a:ext cx="1436642" cy="318316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2955818" y="2924945"/>
              <a:ext cx="2016226" cy="2808312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2955819" y="3356993"/>
              <a:ext cx="2448273" cy="2376264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V="1">
              <a:off x="2955818" y="3861049"/>
              <a:ext cx="2808314" cy="1872208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V="1">
              <a:off x="2955818" y="4365105"/>
              <a:ext cx="3024338" cy="1368152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/>
          </p:nvSpPr>
          <p:spPr>
            <a:xfrm rot="2861017">
              <a:off x="4272748" y="3543600"/>
              <a:ext cx="1381904" cy="576064"/>
            </a:xfrm>
            <a:prstGeom prst="ellipse">
              <a:avLst/>
            </a:prstGeom>
            <a:noFill/>
            <a:ln w="3810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4572000" y="3396135"/>
              <a:ext cx="72008" cy="720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4936041" y="3717033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5260076" y="4120159"/>
              <a:ext cx="72008" cy="720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2479398" y="2335174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398" y="2335174"/>
                <a:ext cx="416716" cy="377667"/>
              </a:xfrm>
              <a:prstGeom prst="rect">
                <a:avLst/>
              </a:prstGeom>
              <a:blipFill rotWithShape="0">
                <a:blip r:embed="rId4"/>
                <a:stretch>
                  <a:fillRect l="-17647" t="-1613" r="-7353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3092958" y="2647300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958" y="2647300"/>
                <a:ext cx="416716" cy="377667"/>
              </a:xfrm>
              <a:prstGeom prst="rect">
                <a:avLst/>
              </a:prstGeom>
              <a:blipFill rotWithShape="0">
                <a:blip r:embed="rId5"/>
                <a:stretch>
                  <a:fillRect l="-15942" r="-5797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3573864" y="3217419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864" y="3217419"/>
                <a:ext cx="416716" cy="377667"/>
              </a:xfrm>
              <a:prstGeom prst="rect">
                <a:avLst/>
              </a:prstGeom>
              <a:blipFill rotWithShape="0">
                <a:blip r:embed="rId6"/>
                <a:stretch>
                  <a:fillRect l="-15942" t="-1613" r="-5797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3970895" y="3766292"/>
                <a:ext cx="416716" cy="376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895" y="3766292"/>
                <a:ext cx="416716" cy="376642"/>
              </a:xfrm>
              <a:prstGeom prst="rect">
                <a:avLst/>
              </a:prstGeom>
              <a:blipFill rotWithShape="0">
                <a:blip r:embed="rId7"/>
                <a:stretch>
                  <a:fillRect l="-15942" t="-3226" r="-5797" b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/>
              <p:cNvSpPr txBox="1"/>
              <p:nvPr/>
            </p:nvSpPr>
            <p:spPr>
              <a:xfrm>
                <a:off x="4224354" y="4329126"/>
                <a:ext cx="416716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354" y="4329126"/>
                <a:ext cx="416716" cy="383118"/>
              </a:xfrm>
              <a:prstGeom prst="rect">
                <a:avLst/>
              </a:prstGeom>
              <a:blipFill rotWithShape="0">
                <a:blip r:embed="rId8"/>
                <a:stretch>
                  <a:fillRect l="-17647" t="-3175" r="-7353"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/>
              <p:cNvSpPr txBox="1"/>
              <p:nvPr/>
            </p:nvSpPr>
            <p:spPr>
              <a:xfrm>
                <a:off x="641982" y="2335174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2" y="2335174"/>
                <a:ext cx="389466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26563" r="-781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/>
              <p:cNvSpPr txBox="1"/>
              <p:nvPr/>
            </p:nvSpPr>
            <p:spPr>
              <a:xfrm>
                <a:off x="4542574" y="5871925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574" y="5871925"/>
                <a:ext cx="389466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26563" r="-781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201841" y="2744119"/>
            <a:ext cx="3635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使用传统遗传算子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不能利用全部信息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111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MOEDA —— MEDA/D</a:t>
            </a: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-2637169" y="2622978"/>
            <a:ext cx="7096788" cy="5606893"/>
            <a:chOff x="-756592" y="2420889"/>
            <a:chExt cx="7096788" cy="5606893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2955820" y="5733257"/>
              <a:ext cx="33843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2955820" y="2420889"/>
              <a:ext cx="0" cy="33123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弧形 13"/>
            <p:cNvSpPr/>
            <p:nvPr/>
          </p:nvSpPr>
          <p:spPr>
            <a:xfrm>
              <a:off x="-756592" y="2780928"/>
              <a:ext cx="6448716" cy="5246854"/>
            </a:xfrm>
            <a:prstGeom prst="arc">
              <a:avLst>
                <a:gd name="adj1" fmla="val 17748903"/>
                <a:gd name="adj2" fmla="val 21409154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V="1">
              <a:off x="2959338" y="2564905"/>
              <a:ext cx="1436642" cy="318316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2955818" y="2924945"/>
              <a:ext cx="2016226" cy="2808312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2955819" y="3356993"/>
              <a:ext cx="2448273" cy="2376264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V="1">
              <a:off x="2955818" y="3861049"/>
              <a:ext cx="2808314" cy="1872208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V="1">
              <a:off x="2955818" y="4365105"/>
              <a:ext cx="3024338" cy="1368152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/>
          </p:nvSpPr>
          <p:spPr>
            <a:xfrm rot="2861017">
              <a:off x="4272748" y="3543600"/>
              <a:ext cx="1381904" cy="576064"/>
            </a:xfrm>
            <a:prstGeom prst="ellipse">
              <a:avLst/>
            </a:prstGeom>
            <a:noFill/>
            <a:ln w="3810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4572000" y="3396135"/>
              <a:ext cx="72008" cy="720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4936041" y="3717033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5260076" y="4120159"/>
              <a:ext cx="72008" cy="720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2479398" y="2335174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398" y="2335174"/>
                <a:ext cx="416716" cy="377667"/>
              </a:xfrm>
              <a:prstGeom prst="rect">
                <a:avLst/>
              </a:prstGeom>
              <a:blipFill rotWithShape="0">
                <a:blip r:embed="rId4"/>
                <a:stretch>
                  <a:fillRect l="-17647" t="-1613" r="-7353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3092958" y="2647300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958" y="2647300"/>
                <a:ext cx="416716" cy="377667"/>
              </a:xfrm>
              <a:prstGeom prst="rect">
                <a:avLst/>
              </a:prstGeom>
              <a:blipFill rotWithShape="0">
                <a:blip r:embed="rId5"/>
                <a:stretch>
                  <a:fillRect l="-15942" r="-5797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3573864" y="3217419"/>
                <a:ext cx="41671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864" y="3217419"/>
                <a:ext cx="416716" cy="377667"/>
              </a:xfrm>
              <a:prstGeom prst="rect">
                <a:avLst/>
              </a:prstGeom>
              <a:blipFill rotWithShape="0">
                <a:blip r:embed="rId6"/>
                <a:stretch>
                  <a:fillRect l="-15942" t="-1613" r="-5797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3970895" y="3766292"/>
                <a:ext cx="416716" cy="376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895" y="3766292"/>
                <a:ext cx="416716" cy="376642"/>
              </a:xfrm>
              <a:prstGeom prst="rect">
                <a:avLst/>
              </a:prstGeom>
              <a:blipFill rotWithShape="0">
                <a:blip r:embed="rId7"/>
                <a:stretch>
                  <a:fillRect l="-15942" t="-3226" r="-5797" b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/>
              <p:cNvSpPr txBox="1"/>
              <p:nvPr/>
            </p:nvSpPr>
            <p:spPr>
              <a:xfrm>
                <a:off x="4224354" y="4329126"/>
                <a:ext cx="416716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 smtClean="0">
                              <a:latin typeface="Cambria Math" panose="02040503050406030204" pitchFamily="18" charset="0"/>
                            </a:rPr>
                            <m:t>𝜦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354" y="4329126"/>
                <a:ext cx="416716" cy="383118"/>
              </a:xfrm>
              <a:prstGeom prst="rect">
                <a:avLst/>
              </a:prstGeom>
              <a:blipFill rotWithShape="0">
                <a:blip r:embed="rId8"/>
                <a:stretch>
                  <a:fillRect l="-17647" t="-3175" r="-7353"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/>
              <p:cNvSpPr txBox="1"/>
              <p:nvPr/>
            </p:nvSpPr>
            <p:spPr>
              <a:xfrm>
                <a:off x="641982" y="2335174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2" y="2335174"/>
                <a:ext cx="389466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26563" r="-781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/>
              <p:cNvSpPr txBox="1"/>
              <p:nvPr/>
            </p:nvSpPr>
            <p:spPr>
              <a:xfrm>
                <a:off x="4542574" y="5871925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574" y="5871925"/>
                <a:ext cx="389466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26563" r="-781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/>
          <p:cNvSpPr txBox="1"/>
          <p:nvPr/>
        </p:nvSpPr>
        <p:spPr>
          <a:xfrm>
            <a:off x="5201841" y="2744119"/>
            <a:ext cx="3635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使用概率向量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更好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利用全部信息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很小，易于收敛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43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规模自适应算子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399257" y="2276872"/>
                <a:ext cx="4345485" cy="5570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zh-CN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sSubSup>
                            <m:sSub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zh-CN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r>
                            <a:rPr lang="zh-CN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sSubSup>
                            <m:sSub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257" y="2276872"/>
                <a:ext cx="4345485" cy="55701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399257" y="3012515"/>
                <a:ext cx="2528448" cy="12255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257" y="3012515"/>
                <a:ext cx="2528448" cy="12255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399257" y="4238043"/>
                <a:ext cx="3183692" cy="1311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ξ</m:t>
                              </m:r>
                            </m:e>
                          </m:nary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ξ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257" y="4238043"/>
                <a:ext cx="3183692" cy="131170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3232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规模自适应算子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574816" y="2477334"/>
                <a:ext cx="3183692" cy="1311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ξ</m:t>
                              </m:r>
                            </m:e>
                          </m:nary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ξ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816" y="2477334"/>
                <a:ext cx="3183692" cy="131170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699792" y="4062660"/>
                <a:ext cx="2319866" cy="10225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altLang="zh-CN" sz="3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0" i="1" smtClean="0">
                              <a:solidFill>
                                <a:srgbClr val="000066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062660"/>
                <a:ext cx="2319866" cy="102252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8656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规模自适应算子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对于解中的一个分量，采样出的结果和原始值的不用的概率是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s/n</a:t>
            </a: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339752" y="3356992"/>
                <a:ext cx="4136068" cy="932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356992"/>
                <a:ext cx="4136068" cy="9325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339752" y="4506106"/>
                <a:ext cx="4104842" cy="9355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506106"/>
                <a:ext cx="4104842" cy="935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7986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规模自适应算子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一个新解与其父代不同的概率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基本不随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</a:t>
            </a: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835696" y="2564904"/>
                <a:ext cx="4957639" cy="992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𝑐h𝑎𝑛𝑔𝑒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564904"/>
                <a:ext cx="4957639" cy="9927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835696" y="3641273"/>
                <a:ext cx="5125249" cy="6546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𝑐h𝑎𝑛𝑔𝑒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l-GR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l-GR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</m:oMath>
                  </m:oMathPara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641273"/>
                <a:ext cx="5125249" cy="65460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779912" y="4389669"/>
                <a:ext cx="34812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389669"/>
                <a:ext cx="3481273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779912" y="5068237"/>
                <a:ext cx="202029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068237"/>
                <a:ext cx="2020297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6026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多目标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2000" y="3055878"/>
            <a:ext cx="6219999" cy="21108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19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基于权重和分解（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n=750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0" name="Picture 2" descr="http://www.epsconverter.com/temp/e2316b2824725960477ac09fa7e4873a.ep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66322"/>
            <a:ext cx="5616624" cy="417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093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切比雪夫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n=750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0" name="Picture 2" descr="http://www.epsconverter.com/temp/e2316b2824725960477ac09fa7e4873a.ep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66322"/>
            <a:ext cx="5616624" cy="417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6" name="Picture 2" descr="http://www.epsconverter.com/temp/81e7fca6d76966567f2b717e877a2856.ep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66322"/>
            <a:ext cx="5616625" cy="417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526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EC-6EED-46B5-98BB-9C421441C1BC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基于分解的多目标分布估计算法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621763" y="756215"/>
            <a:ext cx="3900474" cy="706961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771800" y="3170929"/>
            <a:ext cx="2304256" cy="3100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47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内容提要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一、研究背景与现状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二、基于共轭先验的单模分布估计算法（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THEDA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三、基于信息熵的多模分布估计算法（</a:t>
            </a:r>
            <a:r>
              <a:rPr lang="en-US" altLang="zh-CN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QEALL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四、基于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分解的多目标分布估计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s-MEDAD</a:t>
            </a:r>
            <a:r>
              <a:rPr lang="zh-CN" altLang="en-US" sz="2800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五、结论与展望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主要工作总结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未来研究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展望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800" dirty="0" smtClean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1978-020C-4EF5-A1AF-A6728BCEF5D7}" type="datetime11">
              <a:rPr lang="zh-CN" altLang="en-US" smtClean="0"/>
              <a:pPr/>
              <a:t>18:33:23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69600"/>
      </p:ext>
    </p:extLst>
  </p:cSld>
  <p:clrMapOvr>
    <a:masterClrMapping/>
  </p:clrMapOvr>
  <p:transition advTm="3583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C9473-8711-4CD1-ADB8-C8466A899212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根据保持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种群多样性，控制全局搜索和局部搜索等基本策略，利用共轭先验分布，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信息熵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，小生境等技术挖掘了单变量分布估计算法的潜力。本文所提出的三个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其测试问题上表现优异，相比原始方法在质量和效率上有所提高。</a:t>
            </a:r>
          </a:p>
        </p:txBody>
      </p:sp>
    </p:spTree>
    <p:extLst>
      <p:ext uri="{BB962C8B-B14F-4D97-AF65-F5344CB8AC3E}">
        <p14:creationId xmlns:p14="http://schemas.microsoft.com/office/powerpoint/2010/main" val="7086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"/>
    </mc:Choice>
    <mc:Fallback xmlns="">
      <p:transition spd="slow" advTm="17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8810-180C-4243-B948-B420841AB084}" type="datetime11">
              <a:rPr lang="zh-CN" altLang="en-US" smtClean="0"/>
              <a:pPr/>
              <a:t>18:33:23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未来研究展望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研究展望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应用在多变量分布估计算法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之中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二进制编码扩展为字母表编码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并行计算是一种提高算法性能的通用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以尝试将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的算法应用在实际问题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40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"/>
    </mc:Choice>
    <mc:Fallback xmlns="">
      <p:transition spd="slow" advTm="12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4B67-16B8-4507-86C2-6DBCAD38DE8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57200" y="1600200"/>
            <a:ext cx="807524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学术论文发表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Yuan,“A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Two-Level Hierarchical EDA Using Conjugate 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Priori,”in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Proceedings of the 16th Annual Conference Companion on Genetic and Evolutionary Computation (GECCO), 2014, pp. 57–58. (EI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“Quantum-Inspired Evolutionary Algorithm with Linkage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Learning,”in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Proceedings of IEEE Congress on Evolutionary Computation (CEC), 2014, pp. 2467–2474. (EI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“Scale Adaptive Reproduction Operator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 Decomposition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Based Estimation of Distribution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Algorithm,”in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Proceedings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 IEEE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Congress on Evolutionary Computation (CEC), 2015,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已录用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(EI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汇总</a:t>
            </a:r>
          </a:p>
        </p:txBody>
      </p:sp>
    </p:spTree>
    <p:extLst>
      <p:ext uri="{BB962C8B-B14F-4D97-AF65-F5344CB8AC3E}">
        <p14:creationId xmlns:p14="http://schemas.microsoft.com/office/powerpoint/2010/main" val="84199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4"/>
    </mc:Choice>
    <mc:Fallback xmlns="">
      <p:transition spd="slow" advTm="2944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4B67-16B8-4507-86C2-6DBCAD38DE8C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57200" y="1600200"/>
            <a:ext cx="8363272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学术论文发表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Wang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,“An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Improved NSGA-III Procedure for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Evolutionary Many-Objective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Optimization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,”  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GECCO), 2014, pp. 661–668. (EI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:20143318065459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“Evolutionary Many-Objective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Optimization Using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Ensemble Fitness Ranking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,”(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GECCO), 2014, pp. 669–676. (EI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:20143318065460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Xu,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 Xin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Yao,“A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New Dominance Relation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Based Evolutionary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Algorithm for Many-Objective Optimization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,”(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TEVC), in press. (SCI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影响因子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5.545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Yuan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Yuan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Hua Xu and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 Wang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“An Experimental Investigation of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Variation Operators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 Reference-Point Based Many-Objective Optimization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,”(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GECCO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 2015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accept.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汇总</a:t>
            </a:r>
          </a:p>
        </p:txBody>
      </p:sp>
    </p:spTree>
    <p:extLst>
      <p:ext uri="{BB962C8B-B14F-4D97-AF65-F5344CB8AC3E}">
        <p14:creationId xmlns:p14="http://schemas.microsoft.com/office/powerpoint/2010/main" val="309517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4"/>
    </mc:Choice>
    <mc:Fallback xmlns="">
      <p:transition spd="slow" advTm="2944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457200" y="1588219"/>
            <a:ext cx="8401080" cy="49371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zh-CN" sz="1200" i="1" dirty="0" smtClean="0">
              <a:ea typeface="宋体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FA-F173-47A0-8E88-95B959100FBE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457200" y="1772816"/>
            <a:ext cx="8113059" cy="4583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Reeves C R, (eds.). Modern Heuristic Techniques for Combinatorial Problems. New York, NY, USA: John Wiley &amp; Sons, Inc., 1993.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Davis L, (eds.). Handbook of genetic algorithms, volume 115. Van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Nostrand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Reinhold New York, 1991.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Larrañaga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P, Lozano J A. Estimation of distribution algorithms: A new tool for evolutionary computation, volume 2. Springer Science &amp; Business Media, 2002.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Pelikan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M, Goldberg D E, Lobo F G. A survey of optimization by building and using probabilistic models. Computational optimization and applications, 2002, 21(1):5–20.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Hauschild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M,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Pelikan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M. An introduction and survey of estimation of distribution algorithms. Swarm and Evolutionary Computation, 2011, 1(3):111–128.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Shir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 M. Niching in evolutionary algorithms. Handbook of Natural Computing. Springer, 2012: 1035–1069.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Emmendorfer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L R,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Pozo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 T R. An empirical evaluation of linkage learning strategies for multimodal optimization. Evolutionary Computation, 2007. CEC 2007. IEEE Congress on. IEEE, 2007. 326–333.</a:t>
            </a:r>
          </a:p>
        </p:txBody>
      </p:sp>
    </p:spTree>
    <p:extLst>
      <p:ext uri="{BB962C8B-B14F-4D97-AF65-F5344CB8AC3E}">
        <p14:creationId xmlns:p14="http://schemas.microsoft.com/office/powerpoint/2010/main" val="214331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"/>
    </mc:Choice>
    <mc:Fallback xmlns="">
      <p:transition spd="slow" advTm="8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457200" y="1588219"/>
            <a:ext cx="8401080" cy="49371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zh-CN" sz="1200" i="1" dirty="0" smtClean="0">
              <a:ea typeface="宋体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FA-F173-47A0-8E88-95B959100FBE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457200" y="1772816"/>
            <a:ext cx="8113059" cy="4583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Emmendorfer</a:t>
            </a:r>
            <a:r>
              <a:rPr lang="en-US" altLang="zh-CN" dirty="0"/>
              <a:t> L R, </a:t>
            </a:r>
            <a:r>
              <a:rPr lang="en-US" altLang="zh-CN" dirty="0" err="1"/>
              <a:t>Pozo</a:t>
            </a:r>
            <a:r>
              <a:rPr lang="en-US" altLang="zh-CN" dirty="0"/>
              <a:t> A T R. An incremental approach for niching and building block detection via clustering. Intelligent Systems Design and Applications, 2007. ISDA 2007. Seventh International Conference on. IEEE, 2007. 303–308.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Emmendorfer</a:t>
            </a:r>
            <a:r>
              <a:rPr lang="en-US" altLang="zh-CN" dirty="0"/>
              <a:t> L, </a:t>
            </a:r>
            <a:r>
              <a:rPr lang="en-US" altLang="zh-CN" dirty="0" err="1"/>
              <a:t>Pozo</a:t>
            </a:r>
            <a:r>
              <a:rPr lang="en-US" altLang="zh-CN" dirty="0"/>
              <a:t> A. A clustering-based approach for linkage learning applied to multimodal optimization. Linkage in Evolutionary Computation. Springer, 2008: 225–248.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Emmendorfer</a:t>
            </a:r>
            <a:r>
              <a:rPr lang="en-US" altLang="zh-CN" dirty="0"/>
              <a:t> L R, </a:t>
            </a:r>
            <a:r>
              <a:rPr lang="en-US" altLang="zh-CN" dirty="0" err="1"/>
              <a:t>Pozo</a:t>
            </a:r>
            <a:r>
              <a:rPr lang="en-US" altLang="zh-CN" dirty="0"/>
              <a:t> A T R. Effective linkage learning using low-order statistics and clustering. Evolutionary Computation, IEEE Transactions on, 2009, 13(6):1233–1246</a:t>
            </a:r>
            <a:r>
              <a:rPr lang="en-US" altLang="zh-CN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Chuang C Y, Hsu W L. Multivariate multi-model approach for globally multimodal problems. Proceedings of the 12th annual conference on Genetic and evolutionary computation. ACM, 2010. 311–318.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 err="1"/>
              <a:t>Črepinšek</a:t>
            </a:r>
            <a:r>
              <a:rPr lang="en-US" altLang="zh-CN" dirty="0"/>
              <a:t> M, Liu S H, </a:t>
            </a:r>
            <a:r>
              <a:rPr lang="en-US" altLang="zh-CN" dirty="0" err="1"/>
              <a:t>Mernik</a:t>
            </a:r>
            <a:r>
              <a:rPr lang="en-US" altLang="zh-CN" dirty="0"/>
              <a:t> M. Exploration and exploitation in evolutionary algorithms: a survey. ACM Computing Surveys (CSUR), 2013, 45(3):35.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Koch K R. Introduction to Bayesian statistics. Springer, 2007.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Kauffman S, Levin S. Towards a general theory of adaptive walks on rugged landscapes. Journal of theoretical Biology, 1987, 128(1):11–45.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65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"/>
    </mc:Choice>
    <mc:Fallback xmlns="">
      <p:transition spd="slow" advTm="8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457200" y="1588219"/>
            <a:ext cx="8401080" cy="49371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zh-CN" sz="1200" i="1" dirty="0" smtClean="0">
              <a:ea typeface="宋体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FA-F173-47A0-8E88-95B959100FBE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457200" y="1772816"/>
            <a:ext cx="8113059" cy="4583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Kauffman S A. Adaptation on rugged fitness landscapes. Lectures in the Sciences of Complexity, 1989, 1:527–618.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Weinberger E D. Np completeness of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kauffman’s</a:t>
            </a:r>
            <a:r>
              <a:rPr lang="en-US" altLang="zh-CN" dirty="0">
                <a:solidFill>
                  <a:sysClr val="windowText" lastClr="000000"/>
                </a:solidFill>
              </a:rPr>
              <a:t>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nk</a:t>
            </a:r>
            <a:r>
              <a:rPr lang="en-US" altLang="zh-CN" dirty="0">
                <a:solidFill>
                  <a:sysClr val="windowText" lastClr="000000"/>
                </a:solidFill>
              </a:rPr>
              <a:t> model, a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tuneable</a:t>
            </a:r>
            <a:r>
              <a:rPr lang="en-US" altLang="zh-CN" dirty="0">
                <a:solidFill>
                  <a:sysClr val="windowText" lastClr="000000"/>
                </a:solidFill>
              </a:rPr>
              <a:t> rugged fitness landscape. Technical report, 1996.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Zhang G. Quantum-inspired evolutionary algorithms: a survey and empirical study. Journal of Heuristics, 2011, 17(3):303–351.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Han K H, Kim J H. Quantum-inspired evolutionary algorithm for a class of combinatorial optimization. Evolutionary Computation, IEEE Transactions on, 2002, 6(6):580–593.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Li Y, Zhou A, Zhang G. A decomposition based estimation of distribution algorithm for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multiobjective</a:t>
            </a:r>
            <a:r>
              <a:rPr lang="en-US" altLang="zh-CN" dirty="0">
                <a:solidFill>
                  <a:sysClr val="windowText" lastClr="000000"/>
                </a:solidFill>
              </a:rPr>
              <a:t> knapsack problems. Natural Computation (ICNC), 2012 Eighth International Conference on. IEEE, 2012. 803–807.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Lee J Y, Kim M S, Lee J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J</a:t>
            </a:r>
            <a:r>
              <a:rPr lang="en-US" altLang="zh-CN" dirty="0">
                <a:solidFill>
                  <a:sysClr val="windowText" lastClr="000000"/>
                </a:solidFill>
              </a:rPr>
              <a:t>. Compact genetic algorithms using belief vectors. Applied Soft Computing, 2011, 11(4):3385–3401.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ysClr val="windowText" lastClr="000000"/>
                </a:solidFill>
              </a:rPr>
              <a:t>Pelikan</a:t>
            </a:r>
            <a:r>
              <a:rPr lang="en-US" altLang="zh-CN" dirty="0">
                <a:solidFill>
                  <a:sysClr val="windowText" lastClr="000000"/>
                </a:solidFill>
              </a:rPr>
              <a:t> M, Goldberg D E, Cantu-Paz E. Linkage problem, distribution estimation, and Bayesian networks. Evolutionary computation, 2000, 8(3):311–340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.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72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"/>
    </mc:Choice>
    <mc:Fallback xmlns="">
      <p:transition spd="slow" advTm="8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457200" y="1588219"/>
            <a:ext cx="8401080" cy="49371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altLang="zh-CN" sz="1200" i="1" dirty="0" smtClean="0">
              <a:ea typeface="宋体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FA-F173-47A0-8E88-95B959100FBE}" type="datetime11">
              <a:rPr lang="zh-CN" altLang="en-US" smtClean="0"/>
              <a:pPr/>
              <a:t>18:33:23</a:t>
            </a:fld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457200" y="1772816"/>
            <a:ext cx="8113059" cy="4583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solidFill>
                  <a:sysClr val="windowText" lastClr="000000"/>
                </a:solidFill>
              </a:rPr>
              <a:t>Shakya</a:t>
            </a:r>
            <a:r>
              <a:rPr lang="en-US" altLang="zh-CN" dirty="0">
                <a:solidFill>
                  <a:sysClr val="windowText" lastClr="000000"/>
                </a:solidFill>
              </a:rPr>
              <a:t>, Siddhartha. Markov Networks in Evolutionary Computation. Ed Roberto Santana. Springer, 2012.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ysClr val="windowText" lastClr="000000"/>
                </a:solidFill>
              </a:rPr>
              <a:t>Karshenas</a:t>
            </a:r>
            <a:r>
              <a:rPr lang="en-US" altLang="zh-CN" dirty="0">
                <a:solidFill>
                  <a:sysClr val="windowText" lastClr="000000"/>
                </a:solidFill>
              </a:rPr>
              <a:t>, Hossein et al. “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Multiobjective</a:t>
            </a:r>
            <a:r>
              <a:rPr lang="en-US" altLang="zh-CN" dirty="0">
                <a:solidFill>
                  <a:sysClr val="windowText" lastClr="000000"/>
                </a:solidFill>
              </a:rPr>
              <a:t>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Estiation</a:t>
            </a:r>
            <a:r>
              <a:rPr lang="en-US" altLang="zh-CN" dirty="0">
                <a:solidFill>
                  <a:sysClr val="windowText" lastClr="000000"/>
                </a:solidFill>
              </a:rPr>
              <a:t> of Distribution Algorithm Based on Joint Modeling of Objectives and Variables.” Evolutionary Computation, IEEE Transactions on 18.4 (2014): 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519-542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Martello S,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Toth</a:t>
            </a:r>
            <a:r>
              <a:rPr lang="en-US" altLang="zh-CN" dirty="0">
                <a:solidFill>
                  <a:sysClr val="windowText" lastClr="000000"/>
                </a:solidFill>
              </a:rPr>
              <a:t> P. Knapsack Problems: Algorithms and Computer Implementations. 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New York</a:t>
            </a:r>
            <a:r>
              <a:rPr lang="en-US" altLang="zh-CN" dirty="0">
                <a:solidFill>
                  <a:sysClr val="windowText" lastClr="000000"/>
                </a:solidFill>
              </a:rPr>
              <a:t>, NY, USA: John Wiley &amp; Sons, Inc., 1990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ysClr val="windowText" lastClr="000000"/>
                </a:solidFill>
              </a:rPr>
              <a:t>Zhang Q, Li H.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Moea</a:t>
            </a:r>
            <a:r>
              <a:rPr lang="en-US" altLang="zh-CN" dirty="0">
                <a:solidFill>
                  <a:sysClr val="windowText" lastClr="000000"/>
                </a:solidFill>
              </a:rPr>
              <a:t>/d: A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multiobjective</a:t>
            </a:r>
            <a:r>
              <a:rPr lang="en-US" altLang="zh-CN" dirty="0">
                <a:solidFill>
                  <a:sysClr val="windowText" lastClr="000000"/>
                </a:solidFill>
              </a:rPr>
              <a:t> evolutionary algorithm based on 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decomposition. Evolutionary </a:t>
            </a:r>
            <a:r>
              <a:rPr lang="en-US" altLang="zh-CN" dirty="0">
                <a:solidFill>
                  <a:sysClr val="windowText" lastClr="000000"/>
                </a:solidFill>
              </a:rPr>
              <a:t>Computation, IEEE Transactions on, 2007, 11(6):712–731.</a:t>
            </a:r>
          </a:p>
        </p:txBody>
      </p:sp>
    </p:spTree>
    <p:extLst>
      <p:ext uri="{BB962C8B-B14F-4D97-AF65-F5344CB8AC3E}">
        <p14:creationId xmlns:p14="http://schemas.microsoft.com/office/powerpoint/2010/main" val="200667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"/>
    </mc:Choice>
    <mc:Fallback xmlns="">
      <p:transition spd="slow" advTm="8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4|1|14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4|1|14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4|1|14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4|1|14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8|6.4|6.7|7.3|4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6.5|3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.5|11.2|1.8|2.8|3.3|3.2"/>
</p:tagLst>
</file>

<file path=ppt/theme/theme1.xml><?xml version="1.0" encoding="utf-8"?>
<a:theme xmlns:a="http://schemas.openxmlformats.org/drawingml/2006/main" name="Office 主题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9545</TotalTime>
  <Words>2770</Words>
  <Application>Microsoft Office PowerPoint</Application>
  <PresentationFormat>全屏显示(4:3)</PresentationFormat>
  <Paragraphs>590</Paragraphs>
  <Slides>61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黑体</vt:lpstr>
      <vt:lpstr>Arial Unicode MS</vt:lpstr>
      <vt:lpstr>宋体</vt:lpstr>
      <vt:lpstr>Calibri</vt:lpstr>
      <vt:lpstr>微软雅黑</vt:lpstr>
      <vt:lpstr>华文楷体</vt:lpstr>
      <vt:lpstr>Cambria Math</vt:lpstr>
      <vt:lpstr>Arial</vt:lpstr>
      <vt:lpstr>Times New Roman</vt:lpstr>
      <vt:lpstr>Office 主题</vt:lpstr>
      <vt:lpstr>单变量分布估计算法 A Study on Univariate Estimation of Distribution Algorithms</vt:lpstr>
      <vt:lpstr>内容提要</vt:lpstr>
      <vt:lpstr>内容提要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内容提要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基于共轭先验的单模分布估计算法</vt:lpstr>
      <vt:lpstr>内容提要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带有链接学习的量子演化算法</vt:lpstr>
      <vt:lpstr>带有链接学习的量子演化算法</vt:lpstr>
      <vt:lpstr>带有链接学习的量子演化算法</vt:lpstr>
      <vt:lpstr>带有链接学习的量子演化算法</vt:lpstr>
      <vt:lpstr>带有链接学习的量子演化算法</vt:lpstr>
      <vt:lpstr>带有链接学习的量子演化算法</vt:lpstr>
      <vt:lpstr>带有链接学习的量子演化算法</vt:lpstr>
      <vt:lpstr>内容提要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基于分解的多目标分布估计算法</vt:lpstr>
      <vt:lpstr>内容提要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WENWENERYA</dc:creator>
  <cp:lastModifiedBy>AAZ2</cp:lastModifiedBy>
  <cp:revision>780</cp:revision>
  <dcterms:created xsi:type="dcterms:W3CDTF">2011-05-09T07:38:28Z</dcterms:created>
  <dcterms:modified xsi:type="dcterms:W3CDTF">2026-03-04T10:33:45Z</dcterms:modified>
</cp:coreProperties>
</file>